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PUPIL 1
========================================================
[STAGE DIRECTIONS / CUES]
Advance to Slide 2 when introducing Roman York and the Ivory Bangle Lady.
[SCRIPT]
"Good morning, everyone.
When people talk about Black British history, many assume it begins in 1948 with the arrival of the Empire Windrush.
We often think of it as a relatively modern story. But history tells a very different tale. Black people have lived, worked, and shaped life on this island for nearly two thousand years."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PUPIL 1
========================================================
[STAGE DIRECTIONS / CUES]
Hand handover to Pupil 2. Advance to Slide 3: John Blanke.
[SCRIPT]
"Our first story takes us all the way back to the 4th century, to Roman Britain—in the city of York.
In 1901, archaeologists uncovered a stone sarcophagus containing the skeleton of a woman. Along with her remains were expensive bracelets made of jet and elephant ivory, glass perfume bottles, and fine jewellery.
Forensic analysis revealed she was of North African descent, and she lived in York around the year 350 AD. She became known as the Ivory Bangle Lady.
She wasn’t an enslaved person or an outsider; she was a wealthy, high-status member of Roman British society. Her presence proves that Britain was multicultural long before it was even called Great Britain."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PUPIL 2
========================================================
[STAGE DIRECTIONS / CUES]
Handover to Pupil 3. Advance to Slide 4: Dr. Harold Moody.
[SCRIPT]
"Move forward a thousand years to Tudor England, and we find another remarkable figure: John Blanke.
John Blanke was a gifted musician who served as a regular trumpeter in the royal courts of both King Henry VII and King Henry VIII.
We don't just know about him from written records—we can actually see him. In 1511, Henry VIII held a massive tournament to celebrate the birth of a royal son. An illuminated 60-foot scroll called the Westminster Tournament Roll was created to document the occasion.
Twice on that scroll, John Blanke is painted riding a horse, wearing royal Tudor livery and playing his trumpet alongside the other royal musicians.
Court records also show something fascinating about his character: he wrote a petition directly to King Henry VIII asking for a pay rise—and the King approved it.
John Blanke was a respected professional at the very centre of royal court ceremony."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PUPIL 3
========================================================
[STAGE DIRECTIONS / CUES]
Handover to Pupil 4. Advance to Slide 5: The Windrush Generation.
[SCRIPT]
"Fast-forward to London in the early 20th century, and meet Dr. Harold Moody.
Born in Jamaica, Harold arrived in Britain in 1904 to study medicine at King’s College London. He graduated top of his class and won numerous medical prizes.
Yet, when he applied for doctor roles in London hospitals, he was repeatedly turned down simply because of the colour of his skin.
Instead of giving up, Dr. Moody opened his own private GP surgery in Peckham, South London, in 1913. He became beloved by the local community because he treated poor families for free when they couldn't afford medicine.
In 1931, seeing how Black people in Britain faced unfair barriers in finding jobs and renting homes, he founded the League of Coloured Peoples.
Dr. Moody campaigned tirelessly for decades, successfully challenging discriminatory housing policies and racist employment bans. He laid the direct groundwork for Britain’s modern race relations laws."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PUPIL 4
========================================================
[STAGE DIRECTIONS / CUES]
Handover to all 4 pupils for shared conclusion. Advance to Slide 6: Reflection.
[SCRIPT]
"That brings us to 1948 and the Empire Windrush.
After the Second World War, Britain was devastated by bombing and facing a massive shortage of workers to rebuild towns, run transport systems, and staff hospitals.
The British government invited citizens from across the Commonwealth to come and help rebuild the country. Hundreds of Caribbean men, women, and families answered that call.
They became the engine room of modern Britain. They drove the buses, laid the railway tracks, and became the backbone of our newly founded National Health Service.
They also enriched British music, literature, food, and culture, turning events like the Notting Hill Carnival into celebrations known across the world.
Their resilience and contribution shaped the public services we all depend on every single day."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SHARED CONCLUSION (ALL 4 PUPILS)
========================================================
PUPIL 1:
"So why does this matter?
Because history is not just about isolated dates; it is about belonging.
From the Roman streets of York to the Tudor royal court, and from a community doctor’s surgery in South London to the arrival of the Windrush—Black history is not a separate topic tucked away for one month of the year.
It is part of the deep, continuous story of Britain itself."
PUPIL 2:
"As we head into our day, let's remember that Britain’s story has always been built by people from diverse backgrounds working, creating, and standing together."
PUPIL 3:
"Take ten seconds of quiet now to reflect on how learning our full, shared history helps us build a stronger community today."
[PAUSE: 10 SECONDS OF SILENCE]
PUPIL 4:
"Thank you for your attention. Have a great day,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D"/>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F59E0B"/>
          </a:solidFill>
          <a:ln/>
        </p:spPr>
      </p:sp>
      <p:sp>
        <p:nvSpPr>
          <p:cNvPr id="3" name="Text 1"/>
          <p:cNvSpPr/>
          <p:nvPr/>
        </p:nvSpPr>
        <p:spPr>
          <a:xfrm>
            <a:off x="731520" y="731520"/>
            <a:ext cx="7680960" cy="274320"/>
          </a:xfrm>
          <a:prstGeom prst="rect">
            <a:avLst/>
          </a:prstGeom>
          <a:noFill/>
          <a:ln/>
        </p:spPr>
        <p:txBody>
          <a:bodyPr wrap="square" rtlCol="0" anchor="ctr"/>
          <a:lstStyle/>
          <a:p>
            <a:pPr indent="0" marL="0">
              <a:buNone/>
            </a:pPr>
            <a:r>
              <a:rPr lang="en-US" sz="1100" b="1" dirty="0">
                <a:solidFill>
                  <a:srgbClr val="F59E0B"/>
                </a:solidFill>
                <a:latin typeface="Arial" pitchFamily="34" charset="0"/>
                <a:ea typeface="Arial" pitchFamily="34" charset="-122"/>
                <a:cs typeface="Arial" pitchFamily="34" charset="-120"/>
              </a:rPr>
              <a:t>WHOLE SCHOOL ASSEMBLY   •   BLACK BRITISH HISTORY</a:t>
            </a:r>
            <a:endParaRPr lang="en-US" sz="1100" dirty="0"/>
          </a:p>
        </p:txBody>
      </p:sp>
      <p:sp>
        <p:nvSpPr>
          <p:cNvPr id="4" name="Text 2"/>
          <p:cNvSpPr/>
          <p:nvPr/>
        </p:nvSpPr>
        <p:spPr>
          <a:xfrm>
            <a:off x="731520" y="1051560"/>
            <a:ext cx="7680960" cy="8229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BEYOND THE SINGLE STORY</a:t>
            </a:r>
            <a:endParaRPr lang="en-US" sz="3400" dirty="0"/>
          </a:p>
        </p:txBody>
      </p:sp>
      <p:sp>
        <p:nvSpPr>
          <p:cNvPr id="5" name="Text 3"/>
          <p:cNvSpPr/>
          <p:nvPr/>
        </p:nvSpPr>
        <p:spPr>
          <a:xfrm>
            <a:off x="731520" y="1920240"/>
            <a:ext cx="7680960" cy="457200"/>
          </a:xfrm>
          <a:prstGeom prst="rect">
            <a:avLst/>
          </a:prstGeom>
          <a:noFill/>
          <a:ln/>
        </p:spPr>
        <p:txBody>
          <a:bodyPr wrap="square" rtlCol="0" anchor="ctr"/>
          <a:lstStyle/>
          <a:p>
            <a:pPr indent="0" marL="0">
              <a:buNone/>
            </a:pPr>
            <a:r>
              <a:rPr lang="en-US" sz="1600" dirty="0">
                <a:solidFill>
                  <a:srgbClr val="CBD5E1"/>
                </a:solidFill>
                <a:latin typeface="Arial" pitchFamily="34" charset="0"/>
                <a:ea typeface="Arial" pitchFamily="34" charset="-122"/>
                <a:cs typeface="Arial" pitchFamily="34" charset="-120"/>
              </a:rPr>
              <a:t>Deep Roots of Black British History: Roman York to the Modern Era</a:t>
            </a:r>
            <a:endParaRPr lang="en-US" sz="1600" dirty="0"/>
          </a:p>
        </p:txBody>
      </p:sp>
      <p:sp>
        <p:nvSpPr>
          <p:cNvPr id="6" name="Shape 4"/>
          <p:cNvSpPr/>
          <p:nvPr/>
        </p:nvSpPr>
        <p:spPr>
          <a:xfrm>
            <a:off x="731520" y="2468880"/>
            <a:ext cx="7680960" cy="0"/>
          </a:xfrm>
          <a:prstGeom prst="line">
            <a:avLst/>
          </a:prstGeom>
          <a:noFill/>
          <a:ln w="25400">
            <a:solidFill>
              <a:srgbClr val="F59E0B"/>
            </a:solidFill>
            <a:prstDash val="solid"/>
          </a:ln>
        </p:spPr>
      </p:sp>
      <p:sp>
        <p:nvSpPr>
          <p:cNvPr id="7" name="Shape 5"/>
          <p:cNvSpPr/>
          <p:nvPr/>
        </p:nvSpPr>
        <p:spPr>
          <a:xfrm>
            <a:off x="731520" y="2743200"/>
            <a:ext cx="7680960" cy="1234440"/>
          </a:xfrm>
          <a:prstGeom prst="roundRect">
            <a:avLst>
              <a:gd name="adj" fmla="val 5926"/>
            </a:avLst>
          </a:prstGeom>
          <a:solidFill>
            <a:srgbClr val="131D31"/>
          </a:solidFill>
          <a:ln w="12700">
            <a:solidFill>
              <a:srgbClr val="233554"/>
            </a:solidFill>
            <a:prstDash val="solid"/>
          </a:ln>
        </p:spPr>
      </p:sp>
      <p:sp>
        <p:nvSpPr>
          <p:cNvPr id="8" name="Text 6"/>
          <p:cNvSpPr/>
          <p:nvPr/>
        </p:nvSpPr>
        <p:spPr>
          <a:xfrm>
            <a:off x="1005840" y="2880360"/>
            <a:ext cx="7132320" cy="22860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CORE ENQUIRY &amp; ASSEMBLY MESSAGE</a:t>
            </a:r>
            <a:endParaRPr lang="en-US" sz="1000" dirty="0"/>
          </a:p>
        </p:txBody>
      </p:sp>
      <p:sp>
        <p:nvSpPr>
          <p:cNvPr id="9" name="Text 7"/>
          <p:cNvSpPr/>
          <p:nvPr/>
        </p:nvSpPr>
        <p:spPr>
          <a:xfrm>
            <a:off x="1005840" y="3154680"/>
            <a:ext cx="7132320" cy="685800"/>
          </a:xfrm>
          <a:prstGeom prst="rect">
            <a:avLst/>
          </a:prstGeom>
          <a:noFill/>
          <a:ln/>
        </p:spPr>
        <p:txBody>
          <a:bodyPr wrap="square" rtlCol="0" anchor="ctr"/>
          <a:lstStyle/>
          <a:p>
            <a:pPr indent="0" marL="0">
              <a:buNone/>
            </a:pPr>
            <a:r>
              <a:rPr lang="en-US" sz="1250" i="1" dirty="0">
                <a:solidFill>
                  <a:srgbClr val="FFFFFF"/>
                </a:solidFill>
                <a:latin typeface="Georgia" pitchFamily="34" charset="0"/>
                <a:ea typeface="Georgia" pitchFamily="34" charset="-122"/>
                <a:cs typeface="Georgia" pitchFamily="34" charset="-120"/>
              </a:rPr>
              <a:t>Black British history did not begin with the Windrush generation in 1948—it stretches back nearly two thousand years through the Roman Empire, Tudor royal courts, and the founding of modern Britain.</a:t>
            </a:r>
            <a:endParaRPr lang="en-US" sz="1250" dirty="0"/>
          </a:p>
        </p:txBody>
      </p:sp>
      <p:sp>
        <p:nvSpPr>
          <p:cNvPr id="10" name="Shape 8"/>
          <p:cNvSpPr/>
          <p:nvPr/>
        </p:nvSpPr>
        <p:spPr>
          <a:xfrm>
            <a:off x="731520" y="4206240"/>
            <a:ext cx="1783080" cy="640080"/>
          </a:xfrm>
          <a:prstGeom prst="roundRect">
            <a:avLst>
              <a:gd name="adj" fmla="val 8571"/>
            </a:avLst>
          </a:prstGeom>
          <a:solidFill>
            <a:srgbClr val="131D31"/>
          </a:solidFill>
          <a:ln w="12700">
            <a:solidFill>
              <a:srgbClr val="233554"/>
            </a:solidFill>
            <a:prstDash val="solid"/>
          </a:ln>
        </p:spPr>
      </p:sp>
      <p:sp>
        <p:nvSpPr>
          <p:cNvPr id="11" name="Text 9"/>
          <p:cNvSpPr/>
          <p:nvPr/>
        </p:nvSpPr>
        <p:spPr>
          <a:xfrm>
            <a:off x="731520" y="4279392"/>
            <a:ext cx="1783080" cy="228600"/>
          </a:xfrm>
          <a:prstGeom prst="rect">
            <a:avLst/>
          </a:prstGeom>
          <a:noFill/>
          <a:ln/>
        </p:spPr>
        <p:txBody>
          <a:bodyPr wrap="square" rtlCol="0" anchor="ctr"/>
          <a:lstStyle/>
          <a:p>
            <a:pPr algn="ctr" indent="0" marL="0">
              <a:buNone/>
            </a:pPr>
            <a:r>
              <a:rPr lang="en-US" sz="950" b="1" dirty="0">
                <a:solidFill>
                  <a:srgbClr val="F59E0B"/>
                </a:solidFill>
                <a:latin typeface="Arial" pitchFamily="34" charset="0"/>
                <a:ea typeface="Arial" pitchFamily="34" charset="-122"/>
                <a:cs typeface="Arial" pitchFamily="34" charset="-120"/>
              </a:rPr>
              <a:t>PUPIL 1</a:t>
            </a:r>
            <a:endParaRPr lang="en-US" sz="950" dirty="0"/>
          </a:p>
        </p:txBody>
      </p:sp>
      <p:sp>
        <p:nvSpPr>
          <p:cNvPr id="12" name="Text 10"/>
          <p:cNvSpPr/>
          <p:nvPr/>
        </p:nvSpPr>
        <p:spPr>
          <a:xfrm>
            <a:off x="731520" y="4507992"/>
            <a:ext cx="1783080" cy="256032"/>
          </a:xfrm>
          <a:prstGeom prst="rect">
            <a:avLst/>
          </a:prstGeom>
          <a:noFill/>
          <a:ln/>
        </p:spPr>
        <p:txBody>
          <a:bodyPr wrap="square" rtlCol="0" anchor="ctr"/>
          <a:lstStyle/>
          <a:p>
            <a:pPr algn="ctr" indent="0" marL="0">
              <a:buNone/>
            </a:pPr>
            <a:r>
              <a:rPr lang="en-US" sz="850" dirty="0">
                <a:solidFill>
                  <a:srgbClr val="94A3B8"/>
                </a:solidFill>
                <a:latin typeface="Arial" pitchFamily="34" charset="0"/>
                <a:ea typeface="Arial" pitchFamily="34" charset="-122"/>
                <a:cs typeface="Arial" pitchFamily="34" charset="-120"/>
              </a:rPr>
              <a:t>Roman York (350 AD)</a:t>
            </a:r>
            <a:endParaRPr lang="en-US" sz="850" dirty="0"/>
          </a:p>
        </p:txBody>
      </p:sp>
      <p:sp>
        <p:nvSpPr>
          <p:cNvPr id="13" name="Shape 11"/>
          <p:cNvSpPr/>
          <p:nvPr/>
        </p:nvSpPr>
        <p:spPr>
          <a:xfrm>
            <a:off x="2697480" y="4206240"/>
            <a:ext cx="1783080" cy="640080"/>
          </a:xfrm>
          <a:prstGeom prst="roundRect">
            <a:avLst>
              <a:gd name="adj" fmla="val 8571"/>
            </a:avLst>
          </a:prstGeom>
          <a:solidFill>
            <a:srgbClr val="131D31"/>
          </a:solidFill>
          <a:ln w="12700">
            <a:solidFill>
              <a:srgbClr val="233554"/>
            </a:solidFill>
            <a:prstDash val="solid"/>
          </a:ln>
        </p:spPr>
      </p:sp>
      <p:sp>
        <p:nvSpPr>
          <p:cNvPr id="14" name="Text 12"/>
          <p:cNvSpPr/>
          <p:nvPr/>
        </p:nvSpPr>
        <p:spPr>
          <a:xfrm>
            <a:off x="2697480" y="4279392"/>
            <a:ext cx="1783080" cy="228600"/>
          </a:xfrm>
          <a:prstGeom prst="rect">
            <a:avLst/>
          </a:prstGeom>
          <a:noFill/>
          <a:ln/>
        </p:spPr>
        <p:txBody>
          <a:bodyPr wrap="square" rtlCol="0" anchor="ctr"/>
          <a:lstStyle/>
          <a:p>
            <a:pPr algn="ctr" indent="0" marL="0">
              <a:buNone/>
            </a:pPr>
            <a:r>
              <a:rPr lang="en-US" sz="950" b="1" dirty="0">
                <a:solidFill>
                  <a:srgbClr val="F59E0B"/>
                </a:solidFill>
                <a:latin typeface="Arial" pitchFamily="34" charset="0"/>
                <a:ea typeface="Arial" pitchFamily="34" charset="-122"/>
                <a:cs typeface="Arial" pitchFamily="34" charset="-120"/>
              </a:rPr>
              <a:t>PUPIL 2</a:t>
            </a:r>
            <a:endParaRPr lang="en-US" sz="950" dirty="0"/>
          </a:p>
        </p:txBody>
      </p:sp>
      <p:sp>
        <p:nvSpPr>
          <p:cNvPr id="15" name="Text 13"/>
          <p:cNvSpPr/>
          <p:nvPr/>
        </p:nvSpPr>
        <p:spPr>
          <a:xfrm>
            <a:off x="2697480" y="4507992"/>
            <a:ext cx="1783080" cy="256032"/>
          </a:xfrm>
          <a:prstGeom prst="rect">
            <a:avLst/>
          </a:prstGeom>
          <a:noFill/>
          <a:ln/>
        </p:spPr>
        <p:txBody>
          <a:bodyPr wrap="square" rtlCol="0" anchor="ctr"/>
          <a:lstStyle/>
          <a:p>
            <a:pPr algn="ctr" indent="0" marL="0">
              <a:buNone/>
            </a:pPr>
            <a:r>
              <a:rPr lang="en-US" sz="850" dirty="0">
                <a:solidFill>
                  <a:srgbClr val="94A3B8"/>
                </a:solidFill>
                <a:latin typeface="Arial" pitchFamily="34" charset="0"/>
                <a:ea typeface="Arial" pitchFamily="34" charset="-122"/>
                <a:cs typeface="Arial" pitchFamily="34" charset="-120"/>
              </a:rPr>
              <a:t>Tudor Courts (1511)</a:t>
            </a:r>
            <a:endParaRPr lang="en-US" sz="850" dirty="0"/>
          </a:p>
        </p:txBody>
      </p:sp>
      <p:sp>
        <p:nvSpPr>
          <p:cNvPr id="16" name="Shape 14"/>
          <p:cNvSpPr/>
          <p:nvPr/>
        </p:nvSpPr>
        <p:spPr>
          <a:xfrm>
            <a:off x="4663440" y="4206240"/>
            <a:ext cx="1783080" cy="640080"/>
          </a:xfrm>
          <a:prstGeom prst="roundRect">
            <a:avLst>
              <a:gd name="adj" fmla="val 8571"/>
            </a:avLst>
          </a:prstGeom>
          <a:solidFill>
            <a:srgbClr val="131D31"/>
          </a:solidFill>
          <a:ln w="12700">
            <a:solidFill>
              <a:srgbClr val="233554"/>
            </a:solidFill>
            <a:prstDash val="solid"/>
          </a:ln>
        </p:spPr>
      </p:sp>
      <p:sp>
        <p:nvSpPr>
          <p:cNvPr id="17" name="Text 15"/>
          <p:cNvSpPr/>
          <p:nvPr/>
        </p:nvSpPr>
        <p:spPr>
          <a:xfrm>
            <a:off x="4663440" y="4279392"/>
            <a:ext cx="1783080" cy="228600"/>
          </a:xfrm>
          <a:prstGeom prst="rect">
            <a:avLst/>
          </a:prstGeom>
          <a:noFill/>
          <a:ln/>
        </p:spPr>
        <p:txBody>
          <a:bodyPr wrap="square" rtlCol="0" anchor="ctr"/>
          <a:lstStyle/>
          <a:p>
            <a:pPr algn="ctr" indent="0" marL="0">
              <a:buNone/>
            </a:pPr>
            <a:r>
              <a:rPr lang="en-US" sz="950" b="1" dirty="0">
                <a:solidFill>
                  <a:srgbClr val="F59E0B"/>
                </a:solidFill>
                <a:latin typeface="Arial" pitchFamily="34" charset="0"/>
                <a:ea typeface="Arial" pitchFamily="34" charset="-122"/>
                <a:cs typeface="Arial" pitchFamily="34" charset="-120"/>
              </a:rPr>
              <a:t>PUPIL 3</a:t>
            </a:r>
            <a:endParaRPr lang="en-US" sz="950" dirty="0"/>
          </a:p>
        </p:txBody>
      </p:sp>
      <p:sp>
        <p:nvSpPr>
          <p:cNvPr id="18" name="Text 16"/>
          <p:cNvSpPr/>
          <p:nvPr/>
        </p:nvSpPr>
        <p:spPr>
          <a:xfrm>
            <a:off x="4663440" y="4507992"/>
            <a:ext cx="1783080" cy="256032"/>
          </a:xfrm>
          <a:prstGeom prst="rect">
            <a:avLst/>
          </a:prstGeom>
          <a:noFill/>
          <a:ln/>
        </p:spPr>
        <p:txBody>
          <a:bodyPr wrap="square" rtlCol="0" anchor="ctr"/>
          <a:lstStyle/>
          <a:p>
            <a:pPr algn="ctr" indent="0" marL="0">
              <a:buNone/>
            </a:pPr>
            <a:r>
              <a:rPr lang="en-US" sz="850" dirty="0">
                <a:solidFill>
                  <a:srgbClr val="94A3B8"/>
                </a:solidFill>
                <a:latin typeface="Arial" pitchFamily="34" charset="0"/>
                <a:ea typeface="Arial" pitchFamily="34" charset="-122"/>
                <a:cs typeface="Arial" pitchFamily="34" charset="-120"/>
              </a:rPr>
              <a:t>Civil Rights (1931)</a:t>
            </a:r>
            <a:endParaRPr lang="en-US" sz="850" dirty="0"/>
          </a:p>
        </p:txBody>
      </p:sp>
      <p:sp>
        <p:nvSpPr>
          <p:cNvPr id="19" name="Shape 17"/>
          <p:cNvSpPr/>
          <p:nvPr/>
        </p:nvSpPr>
        <p:spPr>
          <a:xfrm>
            <a:off x="6629400" y="4206240"/>
            <a:ext cx="1783080" cy="640080"/>
          </a:xfrm>
          <a:prstGeom prst="roundRect">
            <a:avLst>
              <a:gd name="adj" fmla="val 8571"/>
            </a:avLst>
          </a:prstGeom>
          <a:solidFill>
            <a:srgbClr val="131D31"/>
          </a:solidFill>
          <a:ln w="12700">
            <a:solidFill>
              <a:srgbClr val="233554"/>
            </a:solidFill>
            <a:prstDash val="solid"/>
          </a:ln>
        </p:spPr>
      </p:sp>
      <p:sp>
        <p:nvSpPr>
          <p:cNvPr id="20" name="Text 18"/>
          <p:cNvSpPr/>
          <p:nvPr/>
        </p:nvSpPr>
        <p:spPr>
          <a:xfrm>
            <a:off x="6629400" y="4279392"/>
            <a:ext cx="1783080" cy="228600"/>
          </a:xfrm>
          <a:prstGeom prst="rect">
            <a:avLst/>
          </a:prstGeom>
          <a:noFill/>
          <a:ln/>
        </p:spPr>
        <p:txBody>
          <a:bodyPr wrap="square" rtlCol="0" anchor="ctr"/>
          <a:lstStyle/>
          <a:p>
            <a:pPr algn="ctr" indent="0" marL="0">
              <a:buNone/>
            </a:pPr>
            <a:r>
              <a:rPr lang="en-US" sz="950" b="1" dirty="0">
                <a:solidFill>
                  <a:srgbClr val="F59E0B"/>
                </a:solidFill>
                <a:latin typeface="Arial" pitchFamily="34" charset="0"/>
                <a:ea typeface="Arial" pitchFamily="34" charset="-122"/>
                <a:cs typeface="Arial" pitchFamily="34" charset="-120"/>
              </a:rPr>
              <a:t>PUPIL 4</a:t>
            </a:r>
            <a:endParaRPr lang="en-US" sz="950" dirty="0"/>
          </a:p>
        </p:txBody>
      </p:sp>
      <p:sp>
        <p:nvSpPr>
          <p:cNvPr id="21" name="Text 19"/>
          <p:cNvSpPr/>
          <p:nvPr/>
        </p:nvSpPr>
        <p:spPr>
          <a:xfrm>
            <a:off x="6629400" y="4507992"/>
            <a:ext cx="1783080" cy="256032"/>
          </a:xfrm>
          <a:prstGeom prst="rect">
            <a:avLst/>
          </a:prstGeom>
          <a:noFill/>
          <a:ln/>
        </p:spPr>
        <p:txBody>
          <a:bodyPr wrap="square" rtlCol="0" anchor="ctr"/>
          <a:lstStyle/>
          <a:p>
            <a:pPr algn="ctr" indent="0" marL="0">
              <a:buNone/>
            </a:pPr>
            <a:r>
              <a:rPr lang="en-US" sz="850" dirty="0">
                <a:solidFill>
                  <a:srgbClr val="94A3B8"/>
                </a:solidFill>
                <a:latin typeface="Arial" pitchFamily="34" charset="0"/>
                <a:ea typeface="Arial" pitchFamily="34" charset="-122"/>
                <a:cs typeface="Arial" pitchFamily="34" charset="-120"/>
              </a:rPr>
              <a:t>Windrush Era (1948)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548640" y="320040"/>
            <a:ext cx="8046720" cy="22860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ACT I: ROMAN BRITAIN   •   4th CENTURY YORK (EBORACUM)</a:t>
            </a:r>
            <a:endParaRPr lang="en-US" sz="1000" dirty="0"/>
          </a:p>
        </p:txBody>
      </p:sp>
      <p:sp>
        <p:nvSpPr>
          <p:cNvPr id="3" name="Text 1"/>
          <p:cNvSpPr/>
          <p:nvPr/>
        </p:nvSpPr>
        <p:spPr>
          <a:xfrm>
            <a:off x="548640" y="548640"/>
            <a:ext cx="8046720" cy="41148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The Ivory Bangle Lady: High Status in Roman Britain</a:t>
            </a:r>
            <a:endParaRPr lang="en-US" sz="2200" dirty="0"/>
          </a:p>
        </p:txBody>
      </p:sp>
      <p:sp>
        <p:nvSpPr>
          <p:cNvPr id="4" name="Shape 2"/>
          <p:cNvSpPr/>
          <p:nvPr/>
        </p:nvSpPr>
        <p:spPr>
          <a:xfrm>
            <a:off x="7223760" y="411480"/>
            <a:ext cx="1371600" cy="365760"/>
          </a:xfrm>
          <a:prstGeom prst="roundRect">
            <a:avLst>
              <a:gd name="adj" fmla="val 12500"/>
            </a:avLst>
          </a:prstGeom>
          <a:solidFill>
            <a:srgbClr val="2A1E0D"/>
          </a:solidFill>
          <a:ln w="12700">
            <a:solidFill>
              <a:srgbClr val="78350F"/>
            </a:solidFill>
            <a:prstDash val="solid"/>
          </a:ln>
        </p:spPr>
      </p:sp>
      <p:sp>
        <p:nvSpPr>
          <p:cNvPr id="5" name="Text 3"/>
          <p:cNvSpPr/>
          <p:nvPr/>
        </p:nvSpPr>
        <p:spPr>
          <a:xfrm>
            <a:off x="7223760" y="438912"/>
            <a:ext cx="1371600" cy="274320"/>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Delivered by: Pupil 1</a:t>
            </a:r>
            <a:endParaRPr lang="en-US" sz="850" dirty="0"/>
          </a:p>
        </p:txBody>
      </p:sp>
      <p:sp>
        <p:nvSpPr>
          <p:cNvPr id="6" name="Shape 4"/>
          <p:cNvSpPr/>
          <p:nvPr/>
        </p:nvSpPr>
        <p:spPr>
          <a:xfrm>
            <a:off x="548640" y="1143000"/>
            <a:ext cx="4389120" cy="868680"/>
          </a:xfrm>
          <a:prstGeom prst="roundRect">
            <a:avLst>
              <a:gd name="adj" fmla="val 6316"/>
            </a:avLst>
          </a:prstGeom>
          <a:solidFill>
            <a:srgbClr val="131D31"/>
          </a:solidFill>
          <a:ln w="12700">
            <a:solidFill>
              <a:srgbClr val="233554"/>
            </a:solidFill>
            <a:prstDash val="solid"/>
          </a:ln>
        </p:spPr>
      </p:sp>
      <p:sp>
        <p:nvSpPr>
          <p:cNvPr id="7" name="Text 5"/>
          <p:cNvSpPr/>
          <p:nvPr/>
        </p:nvSpPr>
        <p:spPr>
          <a:xfrm>
            <a:off x="731520" y="1234440"/>
            <a:ext cx="4023360" cy="201168"/>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THE DISCOVERY (YORK, 1901)</a:t>
            </a:r>
            <a:endParaRPr lang="en-US" sz="950" dirty="0"/>
          </a:p>
        </p:txBody>
      </p:sp>
      <p:sp>
        <p:nvSpPr>
          <p:cNvPr id="8" name="Text 6"/>
          <p:cNvSpPr/>
          <p:nvPr/>
        </p:nvSpPr>
        <p:spPr>
          <a:xfrm>
            <a:off x="731520" y="1435608"/>
            <a:ext cx="4023360" cy="502920"/>
          </a:xfrm>
          <a:prstGeom prst="rect">
            <a:avLst/>
          </a:prstGeom>
          <a:noFill/>
          <a:ln/>
        </p:spPr>
        <p:txBody>
          <a:bodyPr wrap="square" rtlCol="0" anchor="ctr"/>
          <a:lstStyle/>
          <a:p>
            <a:pPr indent="0" marL="0">
              <a:buNone/>
            </a:pPr>
            <a:r>
              <a:rPr lang="en-US" sz="1000" dirty="0">
                <a:solidFill>
                  <a:srgbClr val="CBD5E1"/>
                </a:solidFill>
                <a:latin typeface="Arial" pitchFamily="34" charset="0"/>
                <a:ea typeface="Arial" pitchFamily="34" charset="-122"/>
                <a:cs typeface="Arial" pitchFamily="34" charset="-120"/>
              </a:rPr>
              <a:t>In 1901, archaeologists in York excavated a stone sarcophagus dating to c. 350 AD containing the skeleton of a wealthy high-status woman.</a:t>
            </a:r>
            <a:endParaRPr lang="en-US" sz="1000" dirty="0"/>
          </a:p>
        </p:txBody>
      </p:sp>
      <p:sp>
        <p:nvSpPr>
          <p:cNvPr id="9" name="Shape 7"/>
          <p:cNvSpPr/>
          <p:nvPr/>
        </p:nvSpPr>
        <p:spPr>
          <a:xfrm>
            <a:off x="548640" y="2103120"/>
            <a:ext cx="4389120" cy="868680"/>
          </a:xfrm>
          <a:prstGeom prst="roundRect">
            <a:avLst>
              <a:gd name="adj" fmla="val 6316"/>
            </a:avLst>
          </a:prstGeom>
          <a:solidFill>
            <a:srgbClr val="131D31"/>
          </a:solidFill>
          <a:ln w="12700">
            <a:solidFill>
              <a:srgbClr val="233554"/>
            </a:solidFill>
            <a:prstDash val="solid"/>
          </a:ln>
        </p:spPr>
      </p:sp>
      <p:sp>
        <p:nvSpPr>
          <p:cNvPr id="10" name="Text 8"/>
          <p:cNvSpPr/>
          <p:nvPr/>
        </p:nvSpPr>
        <p:spPr>
          <a:xfrm>
            <a:off x="731520" y="2194560"/>
            <a:ext cx="4023360" cy="201168"/>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EXPENSIVE GRAVE GOODS</a:t>
            </a:r>
            <a:endParaRPr lang="en-US" sz="950" dirty="0"/>
          </a:p>
        </p:txBody>
      </p:sp>
      <p:sp>
        <p:nvSpPr>
          <p:cNvPr id="11" name="Text 9"/>
          <p:cNvSpPr/>
          <p:nvPr/>
        </p:nvSpPr>
        <p:spPr>
          <a:xfrm>
            <a:off x="731520" y="2395728"/>
            <a:ext cx="4023360" cy="502920"/>
          </a:xfrm>
          <a:prstGeom prst="rect">
            <a:avLst/>
          </a:prstGeom>
          <a:noFill/>
          <a:ln/>
        </p:spPr>
        <p:txBody>
          <a:bodyPr wrap="square" rtlCol="0" anchor="ctr"/>
          <a:lstStyle/>
          <a:p>
            <a:pPr indent="0" marL="0">
              <a:buNone/>
            </a:pPr>
            <a:r>
              <a:rPr lang="en-US" sz="1000" dirty="0">
                <a:solidFill>
                  <a:srgbClr val="CBD5E1"/>
                </a:solidFill>
                <a:latin typeface="Arial" pitchFamily="34" charset="0"/>
                <a:ea typeface="Arial" pitchFamily="34" charset="-122"/>
                <a:cs typeface="Arial" pitchFamily="34" charset="-120"/>
              </a:rPr>
              <a:t>Buried with luxury goods: an armlet carved from elephant ivory, jet bracelets, fine glass perfume bottles, beads, and a Christian bone mount.</a:t>
            </a:r>
            <a:endParaRPr lang="en-US" sz="1000" dirty="0"/>
          </a:p>
        </p:txBody>
      </p:sp>
      <p:sp>
        <p:nvSpPr>
          <p:cNvPr id="12" name="Shape 10"/>
          <p:cNvSpPr/>
          <p:nvPr/>
        </p:nvSpPr>
        <p:spPr>
          <a:xfrm>
            <a:off x="548640" y="3063240"/>
            <a:ext cx="4389120" cy="868680"/>
          </a:xfrm>
          <a:prstGeom prst="roundRect">
            <a:avLst>
              <a:gd name="adj" fmla="val 6316"/>
            </a:avLst>
          </a:prstGeom>
          <a:solidFill>
            <a:srgbClr val="131D31"/>
          </a:solidFill>
          <a:ln w="12700">
            <a:solidFill>
              <a:srgbClr val="233554"/>
            </a:solidFill>
            <a:prstDash val="solid"/>
          </a:ln>
        </p:spPr>
      </p:sp>
      <p:sp>
        <p:nvSpPr>
          <p:cNvPr id="13" name="Text 11"/>
          <p:cNvSpPr/>
          <p:nvPr/>
        </p:nvSpPr>
        <p:spPr>
          <a:xfrm>
            <a:off x="731520" y="3154680"/>
            <a:ext cx="4023360" cy="201168"/>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FORENSIC &amp; ISOTOPE ANALYSIS</a:t>
            </a:r>
            <a:endParaRPr lang="en-US" sz="950" dirty="0"/>
          </a:p>
        </p:txBody>
      </p:sp>
      <p:sp>
        <p:nvSpPr>
          <p:cNvPr id="14" name="Text 12"/>
          <p:cNvSpPr/>
          <p:nvPr/>
        </p:nvSpPr>
        <p:spPr>
          <a:xfrm>
            <a:off x="731520" y="3355848"/>
            <a:ext cx="4023360" cy="502920"/>
          </a:xfrm>
          <a:prstGeom prst="rect">
            <a:avLst/>
          </a:prstGeom>
          <a:noFill/>
          <a:ln/>
        </p:spPr>
        <p:txBody>
          <a:bodyPr wrap="square" rtlCol="0" anchor="ctr"/>
          <a:lstStyle/>
          <a:p>
            <a:pPr indent="0" marL="0">
              <a:buNone/>
            </a:pPr>
            <a:r>
              <a:rPr lang="en-US" sz="1000" dirty="0">
                <a:solidFill>
                  <a:srgbClr val="CBD5E1"/>
                </a:solidFill>
                <a:latin typeface="Arial" pitchFamily="34" charset="0"/>
                <a:ea typeface="Arial" pitchFamily="34" charset="-122"/>
                <a:cs typeface="Arial" pitchFamily="34" charset="-120"/>
              </a:rPr>
              <a:t>Modern facial reconstruction and chemical isotope analysis of her teeth prove she grew up in a warmer climate and was of North African descent.</a:t>
            </a:r>
            <a:endParaRPr lang="en-US" sz="1000" dirty="0"/>
          </a:p>
        </p:txBody>
      </p:sp>
      <p:sp>
        <p:nvSpPr>
          <p:cNvPr id="15" name="Shape 13"/>
          <p:cNvSpPr/>
          <p:nvPr/>
        </p:nvSpPr>
        <p:spPr>
          <a:xfrm>
            <a:off x="548640" y="4114800"/>
            <a:ext cx="4389120" cy="731520"/>
          </a:xfrm>
          <a:prstGeom prst="roundRect">
            <a:avLst>
              <a:gd name="adj" fmla="val 7500"/>
            </a:avLst>
          </a:prstGeom>
          <a:solidFill>
            <a:srgbClr val="1E293B"/>
          </a:solidFill>
          <a:ln w="12700">
            <a:solidFill>
              <a:srgbClr val="F59E0B"/>
            </a:solidFill>
            <a:prstDash val="solid"/>
          </a:ln>
        </p:spPr>
      </p:sp>
      <p:sp>
        <p:nvSpPr>
          <p:cNvPr id="16" name="Text 14"/>
          <p:cNvSpPr/>
          <p:nvPr/>
        </p:nvSpPr>
        <p:spPr>
          <a:xfrm>
            <a:off x="731520" y="4169664"/>
            <a:ext cx="4023360" cy="182880"/>
          </a:xfrm>
          <a:prstGeom prst="rect">
            <a:avLst/>
          </a:prstGeom>
          <a:noFill/>
          <a:ln/>
        </p:spPr>
        <p:txBody>
          <a:bodyPr wrap="square" rtlCol="0" anchor="ctr"/>
          <a:lstStyle/>
          <a:p>
            <a:pPr indent="0" marL="0">
              <a:buNone/>
            </a:pPr>
            <a:r>
              <a:rPr lang="en-US" sz="850" b="1" dirty="0">
                <a:solidFill>
                  <a:srgbClr val="F59E0B"/>
                </a:solidFill>
                <a:latin typeface="Arial" pitchFamily="34" charset="0"/>
                <a:ea typeface="Arial" pitchFamily="34" charset="-122"/>
                <a:cs typeface="Arial" pitchFamily="34" charset="-120"/>
              </a:rPr>
              <a:t>HISTORICAL SIGNIFICANCE:</a:t>
            </a:r>
            <a:endParaRPr lang="en-US" sz="850" dirty="0"/>
          </a:p>
        </p:txBody>
      </p:sp>
      <p:sp>
        <p:nvSpPr>
          <p:cNvPr id="17" name="Text 15"/>
          <p:cNvSpPr/>
          <p:nvPr/>
        </p:nvSpPr>
        <p:spPr>
          <a:xfrm>
            <a:off x="731520" y="4343400"/>
            <a:ext cx="4023360" cy="457200"/>
          </a:xfrm>
          <a:prstGeom prst="rect">
            <a:avLst/>
          </a:prstGeom>
          <a:noFill/>
          <a:ln/>
        </p:spPr>
        <p:txBody>
          <a:bodyPr wrap="square" rtlCol="0" anchor="ctr"/>
          <a:lstStyle/>
          <a:p>
            <a:pPr indent="0" marL="0">
              <a:buNone/>
            </a:pPr>
            <a:r>
              <a:rPr lang="en-US" sz="950" i="1" dirty="0">
                <a:solidFill>
                  <a:srgbClr val="FFFFFF"/>
                </a:solidFill>
                <a:latin typeface="Georgia" pitchFamily="34" charset="0"/>
                <a:ea typeface="Georgia" pitchFamily="34" charset="-122"/>
                <a:cs typeface="Georgia" pitchFamily="34" charset="-120"/>
              </a:rPr>
              <a:t>"She was not enslaved or an outsider; she was a member of Roman Britain’s wealthy elite. Britain was multicultural long before it was even called Great Britain."</a:t>
            </a:r>
            <a:endParaRPr lang="en-US" sz="950" dirty="0"/>
          </a:p>
        </p:txBody>
      </p:sp>
      <p:pic>
        <p:nvPicPr>
          <p:cNvPr id="18" name="Image 0" descr="C:\Projects\meoncross-history.netlify.app\public\images\assembly\ivory_bangle_lady_reconstruction.jpg">    </p:cNvPr>
          <p:cNvPicPr>
            <a:picLocks noChangeAspect="1"/>
          </p:cNvPicPr>
          <p:nvPr/>
        </p:nvPicPr>
        <p:blipFill>
          <a:blip r:embed="rId1"/>
          <a:stretch>
            <a:fillRect/>
          </a:stretch>
        </p:blipFill>
        <p:spPr>
          <a:xfrm>
            <a:off x="5166360" y="1143000"/>
            <a:ext cx="3429000" cy="1371600"/>
          </a:xfrm>
          <a:prstGeom prst="ellipse">
            <a:avLst/>
          </a:prstGeom>
        </p:spPr>
      </p:pic>
      <p:sp>
        <p:nvSpPr>
          <p:cNvPr id="19" name="Text 16"/>
          <p:cNvSpPr/>
          <p:nvPr/>
        </p:nvSpPr>
        <p:spPr>
          <a:xfrm>
            <a:off x="5166360" y="2532888"/>
            <a:ext cx="3429000" cy="201168"/>
          </a:xfrm>
          <a:prstGeom prst="rect">
            <a:avLst/>
          </a:prstGeom>
          <a:noFill/>
          <a:ln/>
        </p:spPr>
        <p:txBody>
          <a:bodyPr wrap="square" rtlCol="0" anchor="ctr"/>
          <a:lstStyle/>
          <a:p>
            <a:pPr algn="ctr" indent="0" marL="0">
              <a:buNone/>
            </a:pPr>
            <a:r>
              <a:rPr lang="en-US" sz="750" dirty="0">
                <a:solidFill>
                  <a:srgbClr val="94A3B8"/>
                </a:solidFill>
                <a:latin typeface="Arial" pitchFamily="34" charset="0"/>
                <a:ea typeface="Arial" pitchFamily="34" charset="-122"/>
                <a:cs typeface="Arial" pitchFamily="34" charset="-120"/>
              </a:rPr>
              <a:t>York Museums Trust: Elephant ivory armlet with rope pattern (c. 350 AD)</a:t>
            </a:r>
            <a:endParaRPr lang="en-US" sz="750" dirty="0"/>
          </a:p>
        </p:txBody>
      </p:sp>
      <p:pic>
        <p:nvPicPr>
          <p:cNvPr id="20" name="Image 1" descr="C:\Projects\meoncross-history.netlify.app\public\images\assembly\ivory_bangle_blue_flask.jpg">    </p:cNvPr>
          <p:cNvPicPr>
            <a:picLocks noChangeAspect="1"/>
          </p:cNvPicPr>
          <p:nvPr/>
        </p:nvPicPr>
        <p:blipFill>
          <a:blip r:embed="rId2"/>
          <a:stretch>
            <a:fillRect/>
          </a:stretch>
        </p:blipFill>
        <p:spPr>
          <a:xfrm>
            <a:off x="5669280" y="2788920"/>
            <a:ext cx="2423160" cy="1600200"/>
          </a:xfrm>
          <a:prstGeom prst="ellipse">
            <a:avLst/>
          </a:prstGeom>
        </p:spPr>
      </p:pic>
      <p:sp>
        <p:nvSpPr>
          <p:cNvPr id="21" name="Text 17"/>
          <p:cNvSpPr/>
          <p:nvPr/>
        </p:nvSpPr>
        <p:spPr>
          <a:xfrm>
            <a:off x="5166360" y="4434840"/>
            <a:ext cx="3429000" cy="201168"/>
          </a:xfrm>
          <a:prstGeom prst="rect">
            <a:avLst/>
          </a:prstGeom>
          <a:noFill/>
          <a:ln/>
        </p:spPr>
        <p:txBody>
          <a:bodyPr wrap="square" rtlCol="0" anchor="ctr"/>
          <a:lstStyle/>
          <a:p>
            <a:pPr algn="ctr" indent="0" marL="0">
              <a:buNone/>
            </a:pPr>
            <a:r>
              <a:rPr lang="en-US" sz="750" dirty="0">
                <a:solidFill>
                  <a:srgbClr val="94A3B8"/>
                </a:solidFill>
                <a:latin typeface="Arial" pitchFamily="34" charset="0"/>
                <a:ea typeface="Arial" pitchFamily="34" charset="-122"/>
                <a:cs typeface="Arial" pitchFamily="34" charset="-120"/>
              </a:rPr>
              <a:t>Roman blue glass perfume flask recovered from the York sarcophagus</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548640" y="320040"/>
            <a:ext cx="8046720" cy="22860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ACT II: TUDOR ENGLAND   •   THE ROYAL COURT OF HENRY VII &amp; HENRY VIII</a:t>
            </a:r>
            <a:endParaRPr lang="en-US" sz="1000" dirty="0"/>
          </a:p>
        </p:txBody>
      </p:sp>
      <p:sp>
        <p:nvSpPr>
          <p:cNvPr id="3" name="Text 1"/>
          <p:cNvSpPr/>
          <p:nvPr/>
        </p:nvSpPr>
        <p:spPr>
          <a:xfrm>
            <a:off x="548640" y="548640"/>
            <a:ext cx="8046720" cy="41148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John Blanke: Royal Musician at the Heart of the Tudor Court</a:t>
            </a:r>
            <a:endParaRPr lang="en-US" sz="2200" dirty="0"/>
          </a:p>
        </p:txBody>
      </p:sp>
      <p:sp>
        <p:nvSpPr>
          <p:cNvPr id="4" name="Shape 2"/>
          <p:cNvSpPr/>
          <p:nvPr/>
        </p:nvSpPr>
        <p:spPr>
          <a:xfrm>
            <a:off x="7223760" y="411480"/>
            <a:ext cx="1371600" cy="365760"/>
          </a:xfrm>
          <a:prstGeom prst="roundRect">
            <a:avLst>
              <a:gd name="adj" fmla="val 12500"/>
            </a:avLst>
          </a:prstGeom>
          <a:solidFill>
            <a:srgbClr val="2A1E0D"/>
          </a:solidFill>
          <a:ln w="12700">
            <a:solidFill>
              <a:srgbClr val="78350F"/>
            </a:solidFill>
            <a:prstDash val="solid"/>
          </a:ln>
        </p:spPr>
      </p:sp>
      <p:sp>
        <p:nvSpPr>
          <p:cNvPr id="5" name="Text 3"/>
          <p:cNvSpPr/>
          <p:nvPr/>
        </p:nvSpPr>
        <p:spPr>
          <a:xfrm>
            <a:off x="7223760" y="438912"/>
            <a:ext cx="1371600" cy="274320"/>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Delivered by: Pupil 2</a:t>
            </a:r>
            <a:endParaRPr lang="en-US" sz="850" dirty="0"/>
          </a:p>
        </p:txBody>
      </p:sp>
      <p:sp>
        <p:nvSpPr>
          <p:cNvPr id="6" name="Shape 4"/>
          <p:cNvSpPr/>
          <p:nvPr/>
        </p:nvSpPr>
        <p:spPr>
          <a:xfrm>
            <a:off x="548640" y="1143000"/>
            <a:ext cx="4754880" cy="868680"/>
          </a:xfrm>
          <a:prstGeom prst="roundRect">
            <a:avLst>
              <a:gd name="adj" fmla="val 6316"/>
            </a:avLst>
          </a:prstGeom>
          <a:solidFill>
            <a:srgbClr val="131D31"/>
          </a:solidFill>
          <a:ln w="12700">
            <a:solidFill>
              <a:srgbClr val="233554"/>
            </a:solidFill>
            <a:prstDash val="solid"/>
          </a:ln>
        </p:spPr>
      </p:sp>
      <p:sp>
        <p:nvSpPr>
          <p:cNvPr id="7" name="Text 5"/>
          <p:cNvSpPr/>
          <p:nvPr/>
        </p:nvSpPr>
        <p:spPr>
          <a:xfrm>
            <a:off x="731520" y="1234440"/>
            <a:ext cx="4389120" cy="201168"/>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REGULAR ROYAL TRUMPETER</a:t>
            </a:r>
            <a:endParaRPr lang="en-US" sz="950" dirty="0"/>
          </a:p>
        </p:txBody>
      </p:sp>
      <p:sp>
        <p:nvSpPr>
          <p:cNvPr id="8" name="Text 6"/>
          <p:cNvSpPr/>
          <p:nvPr/>
        </p:nvSpPr>
        <p:spPr>
          <a:xfrm>
            <a:off x="731520" y="1435608"/>
            <a:ext cx="4389120" cy="502920"/>
          </a:xfrm>
          <a:prstGeom prst="rect">
            <a:avLst/>
          </a:prstGeom>
          <a:noFill/>
          <a:ln/>
        </p:spPr>
        <p:txBody>
          <a:bodyPr wrap="square" rtlCol="0" anchor="ctr"/>
          <a:lstStyle/>
          <a:p>
            <a:pPr indent="0" marL="0">
              <a:buNone/>
            </a:pPr>
            <a:r>
              <a:rPr lang="en-US" sz="1000" dirty="0">
                <a:solidFill>
                  <a:srgbClr val="CBD5E1"/>
                </a:solidFill>
                <a:latin typeface="Arial" pitchFamily="34" charset="0"/>
                <a:ea typeface="Arial" pitchFamily="34" charset="-122"/>
                <a:cs typeface="Arial" pitchFamily="34" charset="-120"/>
              </a:rPr>
              <a:t>John Blanke served as a retained court musician to both King Henry VII and King Henry VIII, performing at major state coronations and royal ceremonies.</a:t>
            </a:r>
            <a:endParaRPr lang="en-US" sz="1000" dirty="0"/>
          </a:p>
        </p:txBody>
      </p:sp>
      <p:sp>
        <p:nvSpPr>
          <p:cNvPr id="9" name="Shape 7"/>
          <p:cNvSpPr/>
          <p:nvPr/>
        </p:nvSpPr>
        <p:spPr>
          <a:xfrm>
            <a:off x="548640" y="2103120"/>
            <a:ext cx="4754880" cy="868680"/>
          </a:xfrm>
          <a:prstGeom prst="roundRect">
            <a:avLst>
              <a:gd name="adj" fmla="val 6316"/>
            </a:avLst>
          </a:prstGeom>
          <a:solidFill>
            <a:srgbClr val="131D31"/>
          </a:solidFill>
          <a:ln w="12700">
            <a:solidFill>
              <a:srgbClr val="233554"/>
            </a:solidFill>
            <a:prstDash val="solid"/>
          </a:ln>
        </p:spPr>
      </p:sp>
      <p:sp>
        <p:nvSpPr>
          <p:cNvPr id="10" name="Text 8"/>
          <p:cNvSpPr/>
          <p:nvPr/>
        </p:nvSpPr>
        <p:spPr>
          <a:xfrm>
            <a:off x="731520" y="2194560"/>
            <a:ext cx="4389120" cy="201168"/>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WESTMINSTER TOURNAMENT ROLL (1511)</a:t>
            </a:r>
            <a:endParaRPr lang="en-US" sz="950" dirty="0"/>
          </a:p>
        </p:txBody>
      </p:sp>
      <p:sp>
        <p:nvSpPr>
          <p:cNvPr id="11" name="Text 9"/>
          <p:cNvSpPr/>
          <p:nvPr/>
        </p:nvSpPr>
        <p:spPr>
          <a:xfrm>
            <a:off x="731520" y="2395728"/>
            <a:ext cx="4389120" cy="502920"/>
          </a:xfrm>
          <a:prstGeom prst="rect">
            <a:avLst/>
          </a:prstGeom>
          <a:noFill/>
          <a:ln/>
        </p:spPr>
        <p:txBody>
          <a:bodyPr wrap="square" rtlCol="0" anchor="ctr"/>
          <a:lstStyle/>
          <a:p>
            <a:pPr indent="0" marL="0">
              <a:buNone/>
            </a:pPr>
            <a:r>
              <a:rPr lang="en-US" sz="1000" dirty="0">
                <a:solidFill>
                  <a:srgbClr val="CBD5E1"/>
                </a:solidFill>
                <a:latin typeface="Arial" pitchFamily="34" charset="0"/>
                <a:ea typeface="Arial" pitchFamily="34" charset="-122"/>
                <a:cs typeface="Arial" pitchFamily="34" charset="-120"/>
              </a:rPr>
              <a:t>Illustrated twice on the 60-foot illuminated royal vellum roll celebrating the birth of Henry VIII’s son, riding on horseback in royal Tudor livery.</a:t>
            </a:r>
            <a:endParaRPr lang="en-US" sz="1000" dirty="0"/>
          </a:p>
        </p:txBody>
      </p:sp>
      <p:sp>
        <p:nvSpPr>
          <p:cNvPr id="12" name="Shape 10"/>
          <p:cNvSpPr/>
          <p:nvPr/>
        </p:nvSpPr>
        <p:spPr>
          <a:xfrm>
            <a:off x="548640" y="3063240"/>
            <a:ext cx="4754880" cy="868680"/>
          </a:xfrm>
          <a:prstGeom prst="roundRect">
            <a:avLst>
              <a:gd name="adj" fmla="val 6316"/>
            </a:avLst>
          </a:prstGeom>
          <a:solidFill>
            <a:srgbClr val="131D31"/>
          </a:solidFill>
          <a:ln w="12700">
            <a:solidFill>
              <a:srgbClr val="233554"/>
            </a:solidFill>
            <a:prstDash val="solid"/>
          </a:ln>
        </p:spPr>
      </p:sp>
      <p:sp>
        <p:nvSpPr>
          <p:cNvPr id="13" name="Text 11"/>
          <p:cNvSpPr/>
          <p:nvPr/>
        </p:nvSpPr>
        <p:spPr>
          <a:xfrm>
            <a:off x="731520" y="3154680"/>
            <a:ext cx="4389120" cy="201168"/>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THE SUCCESSFUL PAY PETITION</a:t>
            </a:r>
            <a:endParaRPr lang="en-US" sz="950" dirty="0"/>
          </a:p>
        </p:txBody>
      </p:sp>
      <p:sp>
        <p:nvSpPr>
          <p:cNvPr id="14" name="Text 12"/>
          <p:cNvSpPr/>
          <p:nvPr/>
        </p:nvSpPr>
        <p:spPr>
          <a:xfrm>
            <a:off x="731520" y="3355848"/>
            <a:ext cx="4389120" cy="502920"/>
          </a:xfrm>
          <a:prstGeom prst="rect">
            <a:avLst/>
          </a:prstGeom>
          <a:noFill/>
          <a:ln/>
        </p:spPr>
        <p:txBody>
          <a:bodyPr wrap="square" rtlCol="0" anchor="ctr"/>
          <a:lstStyle/>
          <a:p>
            <a:pPr indent="0" marL="0">
              <a:buNone/>
            </a:pPr>
            <a:r>
              <a:rPr lang="en-US" sz="1000" dirty="0">
                <a:solidFill>
                  <a:srgbClr val="CBD5E1"/>
                </a:solidFill>
                <a:latin typeface="Arial" pitchFamily="34" charset="0"/>
                <a:ea typeface="Arial" pitchFamily="34" charset="-122"/>
                <a:cs typeface="Arial" pitchFamily="34" charset="-120"/>
              </a:rPr>
              <a:t>Court warrants preserve his handwritten petition directly to King Henry VIII requesting a pay rise to eight pence a day—which the King signed and approved.</a:t>
            </a:r>
            <a:endParaRPr lang="en-US" sz="1000" dirty="0"/>
          </a:p>
        </p:txBody>
      </p:sp>
      <p:sp>
        <p:nvSpPr>
          <p:cNvPr id="15" name="Shape 13"/>
          <p:cNvSpPr/>
          <p:nvPr/>
        </p:nvSpPr>
        <p:spPr>
          <a:xfrm>
            <a:off x="548640" y="4114800"/>
            <a:ext cx="4754880" cy="731520"/>
          </a:xfrm>
          <a:prstGeom prst="roundRect">
            <a:avLst>
              <a:gd name="adj" fmla="val 7500"/>
            </a:avLst>
          </a:prstGeom>
          <a:solidFill>
            <a:srgbClr val="1E293B"/>
          </a:solidFill>
          <a:ln w="12700">
            <a:solidFill>
              <a:srgbClr val="F59E0B"/>
            </a:solidFill>
            <a:prstDash val="solid"/>
          </a:ln>
        </p:spPr>
      </p:sp>
      <p:sp>
        <p:nvSpPr>
          <p:cNvPr id="16" name="Text 14"/>
          <p:cNvSpPr/>
          <p:nvPr/>
        </p:nvSpPr>
        <p:spPr>
          <a:xfrm>
            <a:off x="731520" y="4169664"/>
            <a:ext cx="4389120" cy="182880"/>
          </a:xfrm>
          <a:prstGeom prst="rect">
            <a:avLst/>
          </a:prstGeom>
          <a:noFill/>
          <a:ln/>
        </p:spPr>
        <p:txBody>
          <a:bodyPr wrap="square" rtlCol="0" anchor="ctr"/>
          <a:lstStyle/>
          <a:p>
            <a:pPr indent="0" marL="0">
              <a:buNone/>
            </a:pPr>
            <a:r>
              <a:rPr lang="en-US" sz="850" b="1" dirty="0">
                <a:solidFill>
                  <a:srgbClr val="F59E0B"/>
                </a:solidFill>
                <a:latin typeface="Arial" pitchFamily="34" charset="0"/>
                <a:ea typeface="Arial" pitchFamily="34" charset="-122"/>
                <a:cs typeface="Arial" pitchFamily="34" charset="-120"/>
              </a:rPr>
              <a:t>HISTORICAL SIGNIFICANCE:</a:t>
            </a:r>
            <a:endParaRPr lang="en-US" sz="850" dirty="0"/>
          </a:p>
        </p:txBody>
      </p:sp>
      <p:sp>
        <p:nvSpPr>
          <p:cNvPr id="17" name="Text 15"/>
          <p:cNvSpPr/>
          <p:nvPr/>
        </p:nvSpPr>
        <p:spPr>
          <a:xfrm>
            <a:off x="731520" y="4343400"/>
            <a:ext cx="4389120" cy="457200"/>
          </a:xfrm>
          <a:prstGeom prst="rect">
            <a:avLst/>
          </a:prstGeom>
          <a:noFill/>
          <a:ln/>
        </p:spPr>
        <p:txBody>
          <a:bodyPr wrap="square" rtlCol="0" anchor="ctr"/>
          <a:lstStyle/>
          <a:p>
            <a:pPr indent="0" marL="0">
              <a:buNone/>
            </a:pPr>
            <a:r>
              <a:rPr lang="en-US" sz="950" i="1" dirty="0">
                <a:solidFill>
                  <a:srgbClr val="FFFFFF"/>
                </a:solidFill>
                <a:latin typeface="Georgia" pitchFamily="34" charset="0"/>
                <a:ea typeface="Georgia" pitchFamily="34" charset="-122"/>
                <a:cs typeface="Georgia" pitchFamily="34" charset="-120"/>
              </a:rPr>
              <a:t>"John Blanke was not an onlooker—he was a respected, skilled professional at the very centre of Tudor royal ceremony and spectacle."</a:t>
            </a:r>
            <a:endParaRPr lang="en-US" sz="950" dirty="0"/>
          </a:p>
        </p:txBody>
      </p:sp>
      <p:pic>
        <p:nvPicPr>
          <p:cNvPr id="18" name="Image 0" descr="C:\Projects\meoncross-history.netlify.app\public\images\assembly\john_blanke.jpg">    </p:cNvPr>
          <p:cNvPicPr>
            <a:picLocks noChangeAspect="1"/>
          </p:cNvPicPr>
          <p:nvPr/>
        </p:nvPicPr>
        <p:blipFill>
          <a:blip r:embed="rId1"/>
          <a:stretch>
            <a:fillRect/>
          </a:stretch>
        </p:blipFill>
        <p:spPr>
          <a:xfrm>
            <a:off x="5577840" y="1143000"/>
            <a:ext cx="3017520" cy="3337560"/>
          </a:xfrm>
          <a:prstGeom prst="ellipse">
            <a:avLst/>
          </a:prstGeom>
        </p:spPr>
      </p:pic>
      <p:sp>
        <p:nvSpPr>
          <p:cNvPr id="19" name="Text 16"/>
          <p:cNvSpPr/>
          <p:nvPr/>
        </p:nvSpPr>
        <p:spPr>
          <a:xfrm>
            <a:off x="5486400" y="4526280"/>
            <a:ext cx="3200400" cy="228600"/>
          </a:xfrm>
          <a:prstGeom prst="rect">
            <a:avLst/>
          </a:prstGeom>
          <a:noFill/>
          <a:ln/>
        </p:spPr>
        <p:txBody>
          <a:bodyPr wrap="square" rtlCol="0" anchor="ctr"/>
          <a:lstStyle/>
          <a:p>
            <a:pPr algn="ctr" indent="0" marL="0">
              <a:buNone/>
            </a:pPr>
            <a:r>
              <a:rPr lang="en-US" sz="750" dirty="0">
                <a:solidFill>
                  <a:srgbClr val="94A3B8"/>
                </a:solidFill>
                <a:latin typeface="Arial" pitchFamily="34" charset="0"/>
                <a:ea typeface="Arial" pitchFamily="34" charset="-122"/>
                <a:cs typeface="Arial" pitchFamily="34" charset="-120"/>
              </a:rPr>
              <a:t>College of Arms: John Blanke on the 1511 Westminster Tournament Roll</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548640" y="320040"/>
            <a:ext cx="8046720" cy="22860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ACT III: EARLY 20th CENTURY   •   MEDICAL PIONEER &amp; CIVIL RIGHTS LEADER</a:t>
            </a:r>
            <a:endParaRPr lang="en-US" sz="1000" dirty="0"/>
          </a:p>
        </p:txBody>
      </p:sp>
      <p:sp>
        <p:nvSpPr>
          <p:cNvPr id="3" name="Text 1"/>
          <p:cNvSpPr/>
          <p:nvPr/>
        </p:nvSpPr>
        <p:spPr>
          <a:xfrm>
            <a:off x="548640" y="548640"/>
            <a:ext cx="8046720" cy="41148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Dr. Harold Moody: Fighting for Healthcare &amp; Equality</a:t>
            </a:r>
            <a:endParaRPr lang="en-US" sz="2200" dirty="0"/>
          </a:p>
        </p:txBody>
      </p:sp>
      <p:sp>
        <p:nvSpPr>
          <p:cNvPr id="4" name="Shape 2"/>
          <p:cNvSpPr/>
          <p:nvPr/>
        </p:nvSpPr>
        <p:spPr>
          <a:xfrm>
            <a:off x="7223760" y="411480"/>
            <a:ext cx="1371600" cy="365760"/>
          </a:xfrm>
          <a:prstGeom prst="roundRect">
            <a:avLst>
              <a:gd name="adj" fmla="val 12500"/>
            </a:avLst>
          </a:prstGeom>
          <a:solidFill>
            <a:srgbClr val="2A1E0D"/>
          </a:solidFill>
          <a:ln w="12700">
            <a:solidFill>
              <a:srgbClr val="78350F"/>
            </a:solidFill>
            <a:prstDash val="solid"/>
          </a:ln>
        </p:spPr>
      </p:sp>
      <p:sp>
        <p:nvSpPr>
          <p:cNvPr id="5" name="Text 3"/>
          <p:cNvSpPr/>
          <p:nvPr/>
        </p:nvSpPr>
        <p:spPr>
          <a:xfrm>
            <a:off x="7223760" y="438912"/>
            <a:ext cx="1371600" cy="274320"/>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Delivered by: Pupil 3</a:t>
            </a:r>
            <a:endParaRPr lang="en-US" sz="850" dirty="0"/>
          </a:p>
        </p:txBody>
      </p:sp>
      <p:sp>
        <p:nvSpPr>
          <p:cNvPr id="6" name="Shape 4"/>
          <p:cNvSpPr/>
          <p:nvPr/>
        </p:nvSpPr>
        <p:spPr>
          <a:xfrm>
            <a:off x="548640" y="1143000"/>
            <a:ext cx="4937760" cy="868680"/>
          </a:xfrm>
          <a:prstGeom prst="roundRect">
            <a:avLst>
              <a:gd name="adj" fmla="val 6316"/>
            </a:avLst>
          </a:prstGeom>
          <a:solidFill>
            <a:srgbClr val="131D31"/>
          </a:solidFill>
          <a:ln w="12700">
            <a:solidFill>
              <a:srgbClr val="233554"/>
            </a:solidFill>
            <a:prstDash val="solid"/>
          </a:ln>
        </p:spPr>
      </p:sp>
      <p:sp>
        <p:nvSpPr>
          <p:cNvPr id="7" name="Text 5"/>
          <p:cNvSpPr/>
          <p:nvPr/>
        </p:nvSpPr>
        <p:spPr>
          <a:xfrm>
            <a:off x="731520" y="1234440"/>
            <a:ext cx="4572000" cy="201168"/>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ACADEMIC EXCELLENCE &amp; BARRIERS (1904)</a:t>
            </a:r>
            <a:endParaRPr lang="en-US" sz="950" dirty="0"/>
          </a:p>
        </p:txBody>
      </p:sp>
      <p:sp>
        <p:nvSpPr>
          <p:cNvPr id="8" name="Text 6"/>
          <p:cNvSpPr/>
          <p:nvPr/>
        </p:nvSpPr>
        <p:spPr>
          <a:xfrm>
            <a:off x="731520" y="1435608"/>
            <a:ext cx="4572000" cy="502920"/>
          </a:xfrm>
          <a:prstGeom prst="rect">
            <a:avLst/>
          </a:prstGeom>
          <a:noFill/>
          <a:ln/>
        </p:spPr>
        <p:txBody>
          <a:bodyPr wrap="square" rtlCol="0" anchor="ctr"/>
          <a:lstStyle/>
          <a:p>
            <a:pPr indent="0" marL="0">
              <a:buNone/>
            </a:pPr>
            <a:r>
              <a:rPr lang="en-US" sz="1000" dirty="0">
                <a:solidFill>
                  <a:srgbClr val="CBD5E1"/>
                </a:solidFill>
                <a:latin typeface="Arial" pitchFamily="34" charset="0"/>
                <a:ea typeface="Arial" pitchFamily="34" charset="-122"/>
                <a:cs typeface="Arial" pitchFamily="34" charset="-120"/>
              </a:rPr>
              <a:t>Born in Jamaica, arrived in London in 1904 to study medicine at King’s College London. Graduated top of his class, yet hospital posts were denied due to racial prejudice.</a:t>
            </a:r>
            <a:endParaRPr lang="en-US" sz="1000" dirty="0"/>
          </a:p>
        </p:txBody>
      </p:sp>
      <p:sp>
        <p:nvSpPr>
          <p:cNvPr id="9" name="Shape 7"/>
          <p:cNvSpPr/>
          <p:nvPr/>
        </p:nvSpPr>
        <p:spPr>
          <a:xfrm>
            <a:off x="548640" y="2103120"/>
            <a:ext cx="4937760" cy="868680"/>
          </a:xfrm>
          <a:prstGeom prst="roundRect">
            <a:avLst>
              <a:gd name="adj" fmla="val 6316"/>
            </a:avLst>
          </a:prstGeom>
          <a:solidFill>
            <a:srgbClr val="131D31"/>
          </a:solidFill>
          <a:ln w="12700">
            <a:solidFill>
              <a:srgbClr val="233554"/>
            </a:solidFill>
            <a:prstDash val="solid"/>
          </a:ln>
        </p:spPr>
      </p:sp>
      <p:sp>
        <p:nvSpPr>
          <p:cNvPr id="10" name="Text 8"/>
          <p:cNvSpPr/>
          <p:nvPr/>
        </p:nvSpPr>
        <p:spPr>
          <a:xfrm>
            <a:off x="731520" y="2194560"/>
            <a:ext cx="4572000" cy="201168"/>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COMMUNITY DOCTOR IN PECKHAM (1913)</a:t>
            </a:r>
            <a:endParaRPr lang="en-US" sz="950" dirty="0"/>
          </a:p>
        </p:txBody>
      </p:sp>
      <p:sp>
        <p:nvSpPr>
          <p:cNvPr id="11" name="Text 9"/>
          <p:cNvSpPr/>
          <p:nvPr/>
        </p:nvSpPr>
        <p:spPr>
          <a:xfrm>
            <a:off x="731520" y="2395728"/>
            <a:ext cx="4572000" cy="502920"/>
          </a:xfrm>
          <a:prstGeom prst="rect">
            <a:avLst/>
          </a:prstGeom>
          <a:noFill/>
          <a:ln/>
        </p:spPr>
        <p:txBody>
          <a:bodyPr wrap="square" rtlCol="0" anchor="ctr"/>
          <a:lstStyle/>
          <a:p>
            <a:pPr indent="0" marL="0">
              <a:buNone/>
            </a:pPr>
            <a:r>
              <a:rPr lang="en-US" sz="1000" dirty="0">
                <a:solidFill>
                  <a:srgbClr val="CBD5E1"/>
                </a:solidFill>
                <a:latin typeface="Arial" pitchFamily="34" charset="0"/>
                <a:ea typeface="Arial" pitchFamily="34" charset="-122"/>
                <a:cs typeface="Arial" pitchFamily="34" charset="-120"/>
              </a:rPr>
              <a:t>Refusing to give up, opened his own surgery in Peckham in 1913. Became beloved across south London for treating impoverished working-class families free of charge.</a:t>
            </a:r>
            <a:endParaRPr lang="en-US" sz="1000" dirty="0"/>
          </a:p>
        </p:txBody>
      </p:sp>
      <p:sp>
        <p:nvSpPr>
          <p:cNvPr id="12" name="Shape 10"/>
          <p:cNvSpPr/>
          <p:nvPr/>
        </p:nvSpPr>
        <p:spPr>
          <a:xfrm>
            <a:off x="548640" y="3063240"/>
            <a:ext cx="4937760" cy="868680"/>
          </a:xfrm>
          <a:prstGeom prst="roundRect">
            <a:avLst>
              <a:gd name="adj" fmla="val 6316"/>
            </a:avLst>
          </a:prstGeom>
          <a:solidFill>
            <a:srgbClr val="131D31"/>
          </a:solidFill>
          <a:ln w="12700">
            <a:solidFill>
              <a:srgbClr val="233554"/>
            </a:solidFill>
            <a:prstDash val="solid"/>
          </a:ln>
        </p:spPr>
      </p:sp>
      <p:sp>
        <p:nvSpPr>
          <p:cNvPr id="13" name="Text 11"/>
          <p:cNvSpPr/>
          <p:nvPr/>
        </p:nvSpPr>
        <p:spPr>
          <a:xfrm>
            <a:off x="731520" y="3154680"/>
            <a:ext cx="4572000" cy="201168"/>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THE LEAGUE OF COLOURED PEOPLES (1931)</a:t>
            </a:r>
            <a:endParaRPr lang="en-US" sz="950" dirty="0"/>
          </a:p>
        </p:txBody>
      </p:sp>
      <p:sp>
        <p:nvSpPr>
          <p:cNvPr id="14" name="Text 12"/>
          <p:cNvSpPr/>
          <p:nvPr/>
        </p:nvSpPr>
        <p:spPr>
          <a:xfrm>
            <a:off x="731520" y="3355848"/>
            <a:ext cx="4572000" cy="502920"/>
          </a:xfrm>
          <a:prstGeom prst="rect">
            <a:avLst/>
          </a:prstGeom>
          <a:noFill/>
          <a:ln/>
        </p:spPr>
        <p:txBody>
          <a:bodyPr wrap="square" rtlCol="0" anchor="ctr"/>
          <a:lstStyle/>
          <a:p>
            <a:pPr indent="0" marL="0">
              <a:buNone/>
            </a:pPr>
            <a:r>
              <a:rPr lang="en-US" sz="1000" dirty="0">
                <a:solidFill>
                  <a:srgbClr val="CBD5E1"/>
                </a:solidFill>
                <a:latin typeface="Arial" pitchFamily="34" charset="0"/>
                <a:ea typeface="Arial" pitchFamily="34" charset="-122"/>
                <a:cs typeface="Arial" pitchFamily="34" charset="-120"/>
              </a:rPr>
              <a:t>Founded Britain’s first major civil rights organization in 1931. Campaigned relentlessly against racist housing bans and employment discrimination in military and civil services.</a:t>
            </a:r>
            <a:endParaRPr lang="en-US" sz="1000" dirty="0"/>
          </a:p>
        </p:txBody>
      </p:sp>
      <p:sp>
        <p:nvSpPr>
          <p:cNvPr id="15" name="Shape 13"/>
          <p:cNvSpPr/>
          <p:nvPr/>
        </p:nvSpPr>
        <p:spPr>
          <a:xfrm>
            <a:off x="548640" y="4114800"/>
            <a:ext cx="4937760" cy="731520"/>
          </a:xfrm>
          <a:prstGeom prst="roundRect">
            <a:avLst>
              <a:gd name="adj" fmla="val 7500"/>
            </a:avLst>
          </a:prstGeom>
          <a:solidFill>
            <a:srgbClr val="1E293B"/>
          </a:solidFill>
          <a:ln w="12700">
            <a:solidFill>
              <a:srgbClr val="F59E0B"/>
            </a:solidFill>
            <a:prstDash val="solid"/>
          </a:ln>
        </p:spPr>
      </p:sp>
      <p:sp>
        <p:nvSpPr>
          <p:cNvPr id="16" name="Text 14"/>
          <p:cNvSpPr/>
          <p:nvPr/>
        </p:nvSpPr>
        <p:spPr>
          <a:xfrm>
            <a:off x="731520" y="4169664"/>
            <a:ext cx="4572000" cy="182880"/>
          </a:xfrm>
          <a:prstGeom prst="rect">
            <a:avLst/>
          </a:prstGeom>
          <a:noFill/>
          <a:ln/>
        </p:spPr>
        <p:txBody>
          <a:bodyPr wrap="square" rtlCol="0" anchor="ctr"/>
          <a:lstStyle/>
          <a:p>
            <a:pPr indent="0" marL="0">
              <a:buNone/>
            </a:pPr>
            <a:r>
              <a:rPr lang="en-US" sz="850" b="1" dirty="0">
                <a:solidFill>
                  <a:srgbClr val="F59E0B"/>
                </a:solidFill>
                <a:latin typeface="Arial" pitchFamily="34" charset="0"/>
                <a:ea typeface="Arial" pitchFamily="34" charset="-122"/>
                <a:cs typeface="Arial" pitchFamily="34" charset="-120"/>
              </a:rPr>
              <a:t>HISTORICAL SIGNIFICANCE:</a:t>
            </a:r>
            <a:endParaRPr lang="en-US" sz="850" dirty="0"/>
          </a:p>
        </p:txBody>
      </p:sp>
      <p:sp>
        <p:nvSpPr>
          <p:cNvPr id="17" name="Text 15"/>
          <p:cNvSpPr/>
          <p:nvPr/>
        </p:nvSpPr>
        <p:spPr>
          <a:xfrm>
            <a:off x="731520" y="4343400"/>
            <a:ext cx="4572000" cy="457200"/>
          </a:xfrm>
          <a:prstGeom prst="rect">
            <a:avLst/>
          </a:prstGeom>
          <a:noFill/>
          <a:ln/>
        </p:spPr>
        <p:txBody>
          <a:bodyPr wrap="square" rtlCol="0" anchor="ctr"/>
          <a:lstStyle/>
          <a:p>
            <a:pPr indent="0" marL="0">
              <a:buNone/>
            </a:pPr>
            <a:r>
              <a:rPr lang="en-US" sz="950" i="1" dirty="0">
                <a:solidFill>
                  <a:srgbClr val="FFFFFF"/>
                </a:solidFill>
                <a:latin typeface="Georgia" pitchFamily="34" charset="0"/>
                <a:ea typeface="Georgia" pitchFamily="34" charset="-122"/>
                <a:cs typeface="Georgia" pitchFamily="34" charset="-120"/>
              </a:rPr>
              <a:t>"Dr. Moody campaigned tirelessly for decades, successfully overturning racial colour bars and laying the direct groundwork for Britain’s modern race relations laws."</a:t>
            </a:r>
            <a:endParaRPr lang="en-US" sz="950" dirty="0"/>
          </a:p>
        </p:txBody>
      </p:sp>
      <p:pic>
        <p:nvPicPr>
          <p:cNvPr id="18" name="Image 0" descr="C:\Projects\meoncross-history.netlify.app\public\images\assembly\harold_moody_bust.jpg">    </p:cNvPr>
          <p:cNvPicPr>
            <a:picLocks noChangeAspect="1"/>
          </p:cNvPicPr>
          <p:nvPr/>
        </p:nvPicPr>
        <p:blipFill>
          <a:blip r:embed="rId1"/>
          <a:stretch>
            <a:fillRect/>
          </a:stretch>
        </p:blipFill>
        <p:spPr>
          <a:xfrm>
            <a:off x="5760720" y="1143000"/>
            <a:ext cx="2834640" cy="3337560"/>
          </a:xfrm>
          <a:prstGeom prst="ellipse">
            <a:avLst/>
          </a:prstGeom>
        </p:spPr>
      </p:pic>
      <p:sp>
        <p:nvSpPr>
          <p:cNvPr id="19" name="Text 16"/>
          <p:cNvSpPr/>
          <p:nvPr/>
        </p:nvSpPr>
        <p:spPr>
          <a:xfrm>
            <a:off x="5669280" y="4526280"/>
            <a:ext cx="3017520" cy="228600"/>
          </a:xfrm>
          <a:prstGeom prst="rect">
            <a:avLst/>
          </a:prstGeom>
          <a:noFill/>
          <a:ln/>
        </p:spPr>
        <p:txBody>
          <a:bodyPr wrap="square" rtlCol="0" anchor="ctr"/>
          <a:lstStyle/>
          <a:p>
            <a:pPr algn="ctr" indent="0" marL="0">
              <a:buNone/>
            </a:pPr>
            <a:r>
              <a:rPr lang="en-US" sz="750" dirty="0">
                <a:solidFill>
                  <a:srgbClr val="94A3B8"/>
                </a:solidFill>
                <a:latin typeface="Arial" pitchFamily="34" charset="0"/>
                <a:ea typeface="Arial" pitchFamily="34" charset="-122"/>
                <a:cs typeface="Arial" pitchFamily="34" charset="-120"/>
              </a:rPr>
              <a:t>National Portrait Gallery: Dr Harold Moody (1882–1947) by Ronald Moody</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548640" y="320040"/>
            <a:ext cx="8046720" cy="22860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ACT IV: POST-WAR BRITAIN   •   REBUILDING THE NATION (1948 ONWARDS)</a:t>
            </a:r>
            <a:endParaRPr lang="en-US" sz="1000" dirty="0"/>
          </a:p>
        </p:txBody>
      </p:sp>
      <p:sp>
        <p:nvSpPr>
          <p:cNvPr id="3" name="Text 1"/>
          <p:cNvSpPr/>
          <p:nvPr/>
        </p:nvSpPr>
        <p:spPr>
          <a:xfrm>
            <a:off x="548640" y="548640"/>
            <a:ext cx="8046720" cy="41148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The Empire Windrush: Rebuilding Britain &amp; Creating the NHS</a:t>
            </a:r>
            <a:endParaRPr lang="en-US" sz="2200" dirty="0"/>
          </a:p>
        </p:txBody>
      </p:sp>
      <p:sp>
        <p:nvSpPr>
          <p:cNvPr id="4" name="Shape 2"/>
          <p:cNvSpPr/>
          <p:nvPr/>
        </p:nvSpPr>
        <p:spPr>
          <a:xfrm>
            <a:off x="7223760" y="411480"/>
            <a:ext cx="1371600" cy="365760"/>
          </a:xfrm>
          <a:prstGeom prst="roundRect">
            <a:avLst>
              <a:gd name="adj" fmla="val 12500"/>
            </a:avLst>
          </a:prstGeom>
          <a:solidFill>
            <a:srgbClr val="2A1E0D"/>
          </a:solidFill>
          <a:ln w="12700">
            <a:solidFill>
              <a:srgbClr val="78350F"/>
            </a:solidFill>
            <a:prstDash val="solid"/>
          </a:ln>
        </p:spPr>
      </p:sp>
      <p:sp>
        <p:nvSpPr>
          <p:cNvPr id="5" name="Text 3"/>
          <p:cNvSpPr/>
          <p:nvPr/>
        </p:nvSpPr>
        <p:spPr>
          <a:xfrm>
            <a:off x="7223760" y="438912"/>
            <a:ext cx="1371600" cy="274320"/>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Delivered by: Pupil 4</a:t>
            </a:r>
            <a:endParaRPr lang="en-US" sz="850" dirty="0"/>
          </a:p>
        </p:txBody>
      </p:sp>
      <p:sp>
        <p:nvSpPr>
          <p:cNvPr id="6" name="Shape 4"/>
          <p:cNvSpPr/>
          <p:nvPr/>
        </p:nvSpPr>
        <p:spPr>
          <a:xfrm>
            <a:off x="548640" y="1143000"/>
            <a:ext cx="4389120" cy="868680"/>
          </a:xfrm>
          <a:prstGeom prst="roundRect">
            <a:avLst>
              <a:gd name="adj" fmla="val 6316"/>
            </a:avLst>
          </a:prstGeom>
          <a:solidFill>
            <a:srgbClr val="131D31"/>
          </a:solidFill>
          <a:ln w="12700">
            <a:solidFill>
              <a:srgbClr val="233554"/>
            </a:solidFill>
            <a:prstDash val="solid"/>
          </a:ln>
        </p:spPr>
      </p:sp>
      <p:sp>
        <p:nvSpPr>
          <p:cNvPr id="7" name="Text 5"/>
          <p:cNvSpPr/>
          <p:nvPr/>
        </p:nvSpPr>
        <p:spPr>
          <a:xfrm>
            <a:off x="731520" y="1234440"/>
            <a:ext cx="4023360" cy="201168"/>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THE CALL TO REBUILD (JUNE 1948)</a:t>
            </a:r>
            <a:endParaRPr lang="en-US" sz="950" dirty="0"/>
          </a:p>
        </p:txBody>
      </p:sp>
      <p:sp>
        <p:nvSpPr>
          <p:cNvPr id="8" name="Text 6"/>
          <p:cNvSpPr/>
          <p:nvPr/>
        </p:nvSpPr>
        <p:spPr>
          <a:xfrm>
            <a:off x="731520" y="1435608"/>
            <a:ext cx="4023360" cy="502920"/>
          </a:xfrm>
          <a:prstGeom prst="rect">
            <a:avLst/>
          </a:prstGeom>
          <a:noFill/>
          <a:ln/>
        </p:spPr>
        <p:txBody>
          <a:bodyPr wrap="square" rtlCol="0" anchor="ctr"/>
          <a:lstStyle/>
          <a:p>
            <a:pPr indent="0" marL="0">
              <a:buNone/>
            </a:pPr>
            <a:r>
              <a:rPr lang="en-US" sz="1000" dirty="0">
                <a:solidFill>
                  <a:srgbClr val="CBD5E1"/>
                </a:solidFill>
                <a:latin typeface="Arial" pitchFamily="34" charset="0"/>
                <a:ea typeface="Arial" pitchFamily="34" charset="-122"/>
                <a:cs typeface="Arial" pitchFamily="34" charset="-120"/>
              </a:rPr>
              <a:t>Facing severe post-war labour shortages and bomb devastation, the British government invited Commonwealth citizens to help rebuild industry, transport, and cities.</a:t>
            </a:r>
            <a:endParaRPr lang="en-US" sz="1000" dirty="0"/>
          </a:p>
        </p:txBody>
      </p:sp>
      <p:sp>
        <p:nvSpPr>
          <p:cNvPr id="9" name="Shape 7"/>
          <p:cNvSpPr/>
          <p:nvPr/>
        </p:nvSpPr>
        <p:spPr>
          <a:xfrm>
            <a:off x="548640" y="2103120"/>
            <a:ext cx="4389120" cy="868680"/>
          </a:xfrm>
          <a:prstGeom prst="roundRect">
            <a:avLst>
              <a:gd name="adj" fmla="val 6316"/>
            </a:avLst>
          </a:prstGeom>
          <a:solidFill>
            <a:srgbClr val="131D31"/>
          </a:solidFill>
          <a:ln w="12700">
            <a:solidFill>
              <a:srgbClr val="233554"/>
            </a:solidFill>
            <a:prstDash val="solid"/>
          </a:ln>
        </p:spPr>
      </p:sp>
      <p:sp>
        <p:nvSpPr>
          <p:cNvPr id="10" name="Text 8"/>
          <p:cNvSpPr/>
          <p:nvPr/>
        </p:nvSpPr>
        <p:spPr>
          <a:xfrm>
            <a:off x="731520" y="2194560"/>
            <a:ext cx="4023360" cy="201168"/>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BACKBONE OF THE NEW NHS</a:t>
            </a:r>
            <a:endParaRPr lang="en-US" sz="950" dirty="0"/>
          </a:p>
        </p:txBody>
      </p:sp>
      <p:sp>
        <p:nvSpPr>
          <p:cNvPr id="11" name="Text 9"/>
          <p:cNvSpPr/>
          <p:nvPr/>
        </p:nvSpPr>
        <p:spPr>
          <a:xfrm>
            <a:off x="731520" y="2395728"/>
            <a:ext cx="4023360" cy="502920"/>
          </a:xfrm>
          <a:prstGeom prst="rect">
            <a:avLst/>
          </a:prstGeom>
          <a:noFill/>
          <a:ln/>
        </p:spPr>
        <p:txBody>
          <a:bodyPr wrap="square" rtlCol="0" anchor="ctr"/>
          <a:lstStyle/>
          <a:p>
            <a:pPr indent="0" marL="0">
              <a:buNone/>
            </a:pPr>
            <a:r>
              <a:rPr lang="en-US" sz="1000" dirty="0">
                <a:solidFill>
                  <a:srgbClr val="CBD5E1"/>
                </a:solidFill>
                <a:latin typeface="Arial" pitchFamily="34" charset="0"/>
                <a:ea typeface="Arial" pitchFamily="34" charset="-122"/>
                <a:cs typeface="Arial" pitchFamily="34" charset="-120"/>
              </a:rPr>
              <a:t>Arriving in the exact month the National Health Service was founded (July 1948), Caribbean men and women became the vital nurses, doctors, and staff powering our hospitals.</a:t>
            </a:r>
            <a:endParaRPr lang="en-US" sz="1000" dirty="0"/>
          </a:p>
        </p:txBody>
      </p:sp>
      <p:sp>
        <p:nvSpPr>
          <p:cNvPr id="12" name="Shape 10"/>
          <p:cNvSpPr/>
          <p:nvPr/>
        </p:nvSpPr>
        <p:spPr>
          <a:xfrm>
            <a:off x="548640" y="3063240"/>
            <a:ext cx="4389120" cy="868680"/>
          </a:xfrm>
          <a:prstGeom prst="roundRect">
            <a:avLst>
              <a:gd name="adj" fmla="val 6316"/>
            </a:avLst>
          </a:prstGeom>
          <a:solidFill>
            <a:srgbClr val="131D31"/>
          </a:solidFill>
          <a:ln w="12700">
            <a:solidFill>
              <a:srgbClr val="233554"/>
            </a:solidFill>
            <a:prstDash val="solid"/>
          </a:ln>
        </p:spPr>
      </p:sp>
      <p:sp>
        <p:nvSpPr>
          <p:cNvPr id="13" name="Text 11"/>
          <p:cNvSpPr/>
          <p:nvPr/>
        </p:nvSpPr>
        <p:spPr>
          <a:xfrm>
            <a:off x="731520" y="3154680"/>
            <a:ext cx="4023360" cy="201168"/>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VIBRANT CULTURAL TRANSFORMATION</a:t>
            </a:r>
            <a:endParaRPr lang="en-US" sz="950" dirty="0"/>
          </a:p>
        </p:txBody>
      </p:sp>
      <p:sp>
        <p:nvSpPr>
          <p:cNvPr id="14" name="Text 12"/>
          <p:cNvSpPr/>
          <p:nvPr/>
        </p:nvSpPr>
        <p:spPr>
          <a:xfrm>
            <a:off x="731520" y="3355848"/>
            <a:ext cx="4023360" cy="502920"/>
          </a:xfrm>
          <a:prstGeom prst="rect">
            <a:avLst/>
          </a:prstGeom>
          <a:noFill/>
          <a:ln/>
        </p:spPr>
        <p:txBody>
          <a:bodyPr wrap="square" rtlCol="0" anchor="ctr"/>
          <a:lstStyle/>
          <a:p>
            <a:pPr indent="0" marL="0">
              <a:buNone/>
            </a:pPr>
            <a:r>
              <a:rPr lang="en-US" sz="1000" dirty="0">
                <a:solidFill>
                  <a:srgbClr val="CBD5E1"/>
                </a:solidFill>
                <a:latin typeface="Arial" pitchFamily="34" charset="0"/>
                <a:ea typeface="Arial" pitchFamily="34" charset="-122"/>
                <a:cs typeface="Arial" pitchFamily="34" charset="-120"/>
              </a:rPr>
              <a:t>Enriched British music, literature, art, and food, giving rise to celebrated global cultural institutions such as London’s Notting Hill Carnival.</a:t>
            </a:r>
            <a:endParaRPr lang="en-US" sz="1000" dirty="0"/>
          </a:p>
        </p:txBody>
      </p:sp>
      <p:sp>
        <p:nvSpPr>
          <p:cNvPr id="15" name="Shape 13"/>
          <p:cNvSpPr/>
          <p:nvPr/>
        </p:nvSpPr>
        <p:spPr>
          <a:xfrm>
            <a:off x="548640" y="4114800"/>
            <a:ext cx="4389120" cy="731520"/>
          </a:xfrm>
          <a:prstGeom prst="roundRect">
            <a:avLst>
              <a:gd name="adj" fmla="val 7500"/>
            </a:avLst>
          </a:prstGeom>
          <a:solidFill>
            <a:srgbClr val="1E293B"/>
          </a:solidFill>
          <a:ln w="12700">
            <a:solidFill>
              <a:srgbClr val="F59E0B"/>
            </a:solidFill>
            <a:prstDash val="solid"/>
          </a:ln>
        </p:spPr>
      </p:sp>
      <p:sp>
        <p:nvSpPr>
          <p:cNvPr id="16" name="Text 14"/>
          <p:cNvSpPr/>
          <p:nvPr/>
        </p:nvSpPr>
        <p:spPr>
          <a:xfrm>
            <a:off x="731520" y="4169664"/>
            <a:ext cx="4023360" cy="182880"/>
          </a:xfrm>
          <a:prstGeom prst="rect">
            <a:avLst/>
          </a:prstGeom>
          <a:noFill/>
          <a:ln/>
        </p:spPr>
        <p:txBody>
          <a:bodyPr wrap="square" rtlCol="0" anchor="ctr"/>
          <a:lstStyle/>
          <a:p>
            <a:pPr indent="0" marL="0">
              <a:buNone/>
            </a:pPr>
            <a:r>
              <a:rPr lang="en-US" sz="850" b="1" dirty="0">
                <a:solidFill>
                  <a:srgbClr val="F59E0B"/>
                </a:solidFill>
                <a:latin typeface="Arial" pitchFamily="34" charset="0"/>
                <a:ea typeface="Arial" pitchFamily="34" charset="-122"/>
                <a:cs typeface="Arial" pitchFamily="34" charset="-120"/>
              </a:rPr>
              <a:t>HISTORICAL SIGNIFICANCE:</a:t>
            </a:r>
            <a:endParaRPr lang="en-US" sz="850" dirty="0"/>
          </a:p>
        </p:txBody>
      </p:sp>
      <p:sp>
        <p:nvSpPr>
          <p:cNvPr id="17" name="Text 15"/>
          <p:cNvSpPr/>
          <p:nvPr/>
        </p:nvSpPr>
        <p:spPr>
          <a:xfrm>
            <a:off x="731520" y="4343400"/>
            <a:ext cx="4023360" cy="457200"/>
          </a:xfrm>
          <a:prstGeom prst="rect">
            <a:avLst/>
          </a:prstGeom>
          <a:noFill/>
          <a:ln/>
        </p:spPr>
        <p:txBody>
          <a:bodyPr wrap="square" rtlCol="0" anchor="ctr"/>
          <a:lstStyle/>
          <a:p>
            <a:pPr indent="0" marL="0">
              <a:buNone/>
            </a:pPr>
            <a:r>
              <a:rPr lang="en-US" sz="950" i="1" dirty="0">
                <a:solidFill>
                  <a:srgbClr val="FFFFFF"/>
                </a:solidFill>
                <a:latin typeface="Georgia" pitchFamily="34" charset="0"/>
                <a:ea typeface="Georgia" pitchFamily="34" charset="-122"/>
                <a:cs typeface="Georgia" pitchFamily="34" charset="-120"/>
              </a:rPr>
              <a:t>"They became the engine room of modern Britain. Their resilience and contribution shaped the public services and cultural life we all depend on every single day."</a:t>
            </a:r>
            <a:endParaRPr lang="en-US" sz="950" dirty="0"/>
          </a:p>
        </p:txBody>
      </p:sp>
      <p:pic>
        <p:nvPicPr>
          <p:cNvPr id="18" name="Image 0" descr="C:\Projects\meoncross-history.netlify.app\public\images\assembly\empire_windrush.jpg">    </p:cNvPr>
          <p:cNvPicPr>
            <a:picLocks noChangeAspect="1"/>
          </p:cNvPicPr>
          <p:nvPr/>
        </p:nvPicPr>
        <p:blipFill>
          <a:blip r:embed="rId1"/>
          <a:stretch>
            <a:fillRect/>
          </a:stretch>
        </p:blipFill>
        <p:spPr>
          <a:xfrm>
            <a:off x="5166360" y="1325880"/>
            <a:ext cx="3429000" cy="2468880"/>
          </a:xfrm>
          <a:prstGeom prst="ellipse">
            <a:avLst/>
          </a:prstGeom>
        </p:spPr>
      </p:pic>
      <p:sp>
        <p:nvSpPr>
          <p:cNvPr id="19" name="Text 16"/>
          <p:cNvSpPr/>
          <p:nvPr/>
        </p:nvSpPr>
        <p:spPr>
          <a:xfrm>
            <a:off x="5166360" y="3886200"/>
            <a:ext cx="3429000" cy="320040"/>
          </a:xfrm>
          <a:prstGeom prst="rect">
            <a:avLst/>
          </a:prstGeom>
          <a:noFill/>
          <a:ln/>
        </p:spPr>
        <p:txBody>
          <a:bodyPr wrap="square" rtlCol="0" anchor="ctr"/>
          <a:lstStyle/>
          <a:p>
            <a:pPr algn="ctr" indent="0" marL="0">
              <a:buNone/>
            </a:pPr>
            <a:r>
              <a:rPr lang="en-US" sz="750" dirty="0">
                <a:solidFill>
                  <a:srgbClr val="94A3B8"/>
                </a:solidFill>
                <a:latin typeface="Arial" pitchFamily="34" charset="0"/>
                <a:ea typeface="Arial" pitchFamily="34" charset="-122"/>
                <a:cs typeface="Arial" pitchFamily="34" charset="-120"/>
              </a:rPr>
              <a:t>Imperial War Museum: HMT Empire Windrush arriving at Tilbury Docks, 22 June 1948</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548640" y="320040"/>
            <a:ext cx="8046720" cy="22860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CONCLUSION &amp; WHOLE SCHOOL REFLECTION</a:t>
            </a:r>
            <a:endParaRPr lang="en-US" sz="1000" dirty="0"/>
          </a:p>
        </p:txBody>
      </p:sp>
      <p:sp>
        <p:nvSpPr>
          <p:cNvPr id="3" name="Text 1"/>
          <p:cNvSpPr/>
          <p:nvPr/>
        </p:nvSpPr>
        <p:spPr>
          <a:xfrm>
            <a:off x="548640" y="548640"/>
            <a:ext cx="8046720" cy="4572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"How Deep Do Our Shared Roots Go?"</a:t>
            </a:r>
            <a:endParaRPr lang="en-US" sz="2400" dirty="0"/>
          </a:p>
        </p:txBody>
      </p:sp>
      <p:sp>
        <p:nvSpPr>
          <p:cNvPr id="4" name="Shape 2"/>
          <p:cNvSpPr/>
          <p:nvPr/>
        </p:nvSpPr>
        <p:spPr>
          <a:xfrm>
            <a:off x="548640" y="1143000"/>
            <a:ext cx="3886200" cy="1325880"/>
          </a:xfrm>
          <a:prstGeom prst="roundRect">
            <a:avLst>
              <a:gd name="adj" fmla="val 4138"/>
            </a:avLst>
          </a:prstGeom>
          <a:solidFill>
            <a:srgbClr val="131D31"/>
          </a:solidFill>
          <a:ln w="12700">
            <a:solidFill>
              <a:srgbClr val="233554"/>
            </a:solidFill>
            <a:prstDash val="solid"/>
          </a:ln>
        </p:spPr>
      </p:sp>
      <p:sp>
        <p:nvSpPr>
          <p:cNvPr id="5" name="Text 3"/>
          <p:cNvSpPr/>
          <p:nvPr/>
        </p:nvSpPr>
        <p:spPr>
          <a:xfrm>
            <a:off x="731520" y="1252728"/>
            <a:ext cx="1097280" cy="201168"/>
          </a:xfrm>
          <a:prstGeom prst="rect">
            <a:avLst/>
          </a:prstGeom>
          <a:noFill/>
          <a:ln/>
        </p:spPr>
        <p:txBody>
          <a:bodyPr wrap="square" rtlCol="0" anchor="ctr"/>
          <a:lstStyle/>
          <a:p>
            <a:pPr indent="0" marL="0">
              <a:buNone/>
            </a:pPr>
            <a:r>
              <a:rPr lang="en-US" sz="900" b="1" dirty="0">
                <a:solidFill>
                  <a:srgbClr val="F59E0B"/>
                </a:solidFill>
                <a:latin typeface="Arial" pitchFamily="34" charset="0"/>
                <a:ea typeface="Arial" pitchFamily="34" charset="-122"/>
                <a:cs typeface="Arial" pitchFamily="34" charset="-120"/>
              </a:rPr>
              <a:t>PUPIL 1</a:t>
            </a:r>
            <a:endParaRPr lang="en-US" sz="900" dirty="0"/>
          </a:p>
        </p:txBody>
      </p:sp>
      <p:sp>
        <p:nvSpPr>
          <p:cNvPr id="6" name="Text 4"/>
          <p:cNvSpPr/>
          <p:nvPr/>
        </p:nvSpPr>
        <p:spPr>
          <a:xfrm>
            <a:off x="1828800" y="1252728"/>
            <a:ext cx="2377440" cy="201168"/>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BELONGING &amp; CONTINUITY</a:t>
            </a:r>
            <a:endParaRPr lang="en-US" sz="800" dirty="0"/>
          </a:p>
        </p:txBody>
      </p:sp>
      <p:sp>
        <p:nvSpPr>
          <p:cNvPr id="7" name="Text 5"/>
          <p:cNvSpPr/>
          <p:nvPr/>
        </p:nvSpPr>
        <p:spPr>
          <a:xfrm>
            <a:off x="731520" y="1490472"/>
            <a:ext cx="3520440" cy="868680"/>
          </a:xfrm>
          <a:prstGeom prst="rect">
            <a:avLst/>
          </a:prstGeom>
          <a:noFill/>
          <a:ln/>
        </p:spPr>
        <p:txBody>
          <a:bodyPr wrap="square" rtlCol="0" anchor="ctr"/>
          <a:lstStyle/>
          <a:p>
            <a:pPr indent="0" marL="0">
              <a:buNone/>
            </a:pPr>
            <a:r>
              <a:rPr lang="en-US" sz="1000" i="1" dirty="0">
                <a:solidFill>
                  <a:srgbClr val="CBD5E1"/>
                </a:solidFill>
                <a:latin typeface="Georgia" pitchFamily="34" charset="0"/>
                <a:ea typeface="Georgia" pitchFamily="34" charset="-122"/>
                <a:cs typeface="Georgia" pitchFamily="34" charset="-120"/>
              </a:rPr>
              <a:t>"History is not just about isolated dates; it is about belonging. Black history is not a separate topic tucked away for one month of the year—it is part of the deep, continuous story of Britain itself."</a:t>
            </a:r>
            <a:endParaRPr lang="en-US" sz="1000" dirty="0"/>
          </a:p>
        </p:txBody>
      </p:sp>
      <p:sp>
        <p:nvSpPr>
          <p:cNvPr id="8" name="Shape 6"/>
          <p:cNvSpPr/>
          <p:nvPr/>
        </p:nvSpPr>
        <p:spPr>
          <a:xfrm>
            <a:off x="4709160" y="1143000"/>
            <a:ext cx="3886200" cy="1325880"/>
          </a:xfrm>
          <a:prstGeom prst="roundRect">
            <a:avLst>
              <a:gd name="adj" fmla="val 4138"/>
            </a:avLst>
          </a:prstGeom>
          <a:solidFill>
            <a:srgbClr val="131D31"/>
          </a:solidFill>
          <a:ln w="12700">
            <a:solidFill>
              <a:srgbClr val="233554"/>
            </a:solidFill>
            <a:prstDash val="solid"/>
          </a:ln>
        </p:spPr>
      </p:sp>
      <p:sp>
        <p:nvSpPr>
          <p:cNvPr id="9" name="Text 7"/>
          <p:cNvSpPr/>
          <p:nvPr/>
        </p:nvSpPr>
        <p:spPr>
          <a:xfrm>
            <a:off x="4892040" y="1252728"/>
            <a:ext cx="1097280" cy="201168"/>
          </a:xfrm>
          <a:prstGeom prst="rect">
            <a:avLst/>
          </a:prstGeom>
          <a:noFill/>
          <a:ln/>
        </p:spPr>
        <p:txBody>
          <a:bodyPr wrap="square" rtlCol="0" anchor="ctr"/>
          <a:lstStyle/>
          <a:p>
            <a:pPr indent="0" marL="0">
              <a:buNone/>
            </a:pPr>
            <a:r>
              <a:rPr lang="en-US" sz="900" b="1" dirty="0">
                <a:solidFill>
                  <a:srgbClr val="F59E0B"/>
                </a:solidFill>
                <a:latin typeface="Arial" pitchFamily="34" charset="0"/>
                <a:ea typeface="Arial" pitchFamily="34" charset="-122"/>
                <a:cs typeface="Arial" pitchFamily="34" charset="-120"/>
              </a:rPr>
              <a:t>PUPIL 2</a:t>
            </a:r>
            <a:endParaRPr lang="en-US" sz="900" dirty="0"/>
          </a:p>
        </p:txBody>
      </p:sp>
      <p:sp>
        <p:nvSpPr>
          <p:cNvPr id="10" name="Text 8"/>
          <p:cNvSpPr/>
          <p:nvPr/>
        </p:nvSpPr>
        <p:spPr>
          <a:xfrm>
            <a:off x="5989320" y="1252728"/>
            <a:ext cx="2377440" cy="201168"/>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SHARED FOUNDATIONS</a:t>
            </a:r>
            <a:endParaRPr lang="en-US" sz="800" dirty="0"/>
          </a:p>
        </p:txBody>
      </p:sp>
      <p:sp>
        <p:nvSpPr>
          <p:cNvPr id="11" name="Text 9"/>
          <p:cNvSpPr/>
          <p:nvPr/>
        </p:nvSpPr>
        <p:spPr>
          <a:xfrm>
            <a:off x="4892040" y="1490472"/>
            <a:ext cx="3520440" cy="868680"/>
          </a:xfrm>
          <a:prstGeom prst="rect">
            <a:avLst/>
          </a:prstGeom>
          <a:noFill/>
          <a:ln/>
        </p:spPr>
        <p:txBody>
          <a:bodyPr wrap="square" rtlCol="0" anchor="ctr"/>
          <a:lstStyle/>
          <a:p>
            <a:pPr indent="0" marL="0">
              <a:buNone/>
            </a:pPr>
            <a:r>
              <a:rPr lang="en-US" sz="1000" i="1" dirty="0">
                <a:solidFill>
                  <a:srgbClr val="CBD5E1"/>
                </a:solidFill>
                <a:latin typeface="Georgia" pitchFamily="34" charset="0"/>
                <a:ea typeface="Georgia" pitchFamily="34" charset="-122"/>
                <a:cs typeface="Georgia" pitchFamily="34" charset="-120"/>
              </a:rPr>
              <a:t>"As we head into our day, let's remember that Britain's story has always been built by people from diverse backgrounds working, creating, and standing together."</a:t>
            </a:r>
            <a:endParaRPr lang="en-US" sz="1000" dirty="0"/>
          </a:p>
        </p:txBody>
      </p:sp>
      <p:sp>
        <p:nvSpPr>
          <p:cNvPr id="12" name="Shape 10"/>
          <p:cNvSpPr/>
          <p:nvPr/>
        </p:nvSpPr>
        <p:spPr>
          <a:xfrm>
            <a:off x="548640" y="2606040"/>
            <a:ext cx="3886200" cy="1325880"/>
          </a:xfrm>
          <a:prstGeom prst="roundRect">
            <a:avLst>
              <a:gd name="adj" fmla="val 4138"/>
            </a:avLst>
          </a:prstGeom>
          <a:solidFill>
            <a:srgbClr val="131D31"/>
          </a:solidFill>
          <a:ln w="12700">
            <a:solidFill>
              <a:srgbClr val="233554"/>
            </a:solidFill>
            <a:prstDash val="solid"/>
          </a:ln>
        </p:spPr>
      </p:sp>
      <p:sp>
        <p:nvSpPr>
          <p:cNvPr id="13" name="Text 11"/>
          <p:cNvSpPr/>
          <p:nvPr/>
        </p:nvSpPr>
        <p:spPr>
          <a:xfrm>
            <a:off x="731520" y="2715768"/>
            <a:ext cx="1097280" cy="201168"/>
          </a:xfrm>
          <a:prstGeom prst="rect">
            <a:avLst/>
          </a:prstGeom>
          <a:noFill/>
          <a:ln/>
        </p:spPr>
        <p:txBody>
          <a:bodyPr wrap="square" rtlCol="0" anchor="ctr"/>
          <a:lstStyle/>
          <a:p>
            <a:pPr indent="0" marL="0">
              <a:buNone/>
            </a:pPr>
            <a:r>
              <a:rPr lang="en-US" sz="900" b="1" dirty="0">
                <a:solidFill>
                  <a:srgbClr val="F59E0B"/>
                </a:solidFill>
                <a:latin typeface="Arial" pitchFamily="34" charset="0"/>
                <a:ea typeface="Arial" pitchFamily="34" charset="-122"/>
                <a:cs typeface="Arial" pitchFamily="34" charset="-120"/>
              </a:rPr>
              <a:t>PUPIL 3</a:t>
            </a:r>
            <a:endParaRPr lang="en-US" sz="900" dirty="0"/>
          </a:p>
        </p:txBody>
      </p:sp>
      <p:sp>
        <p:nvSpPr>
          <p:cNvPr id="14" name="Text 12"/>
          <p:cNvSpPr/>
          <p:nvPr/>
        </p:nvSpPr>
        <p:spPr>
          <a:xfrm>
            <a:off x="1828800" y="2715768"/>
            <a:ext cx="2377440" cy="201168"/>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MOMENT OF PAUSE</a:t>
            </a:r>
            <a:endParaRPr lang="en-US" sz="800" dirty="0"/>
          </a:p>
        </p:txBody>
      </p:sp>
      <p:sp>
        <p:nvSpPr>
          <p:cNvPr id="15" name="Text 13"/>
          <p:cNvSpPr/>
          <p:nvPr/>
        </p:nvSpPr>
        <p:spPr>
          <a:xfrm>
            <a:off x="731520" y="2953512"/>
            <a:ext cx="3520440" cy="868680"/>
          </a:xfrm>
          <a:prstGeom prst="rect">
            <a:avLst/>
          </a:prstGeom>
          <a:noFill/>
          <a:ln/>
        </p:spPr>
        <p:txBody>
          <a:bodyPr wrap="square" rtlCol="0" anchor="ctr"/>
          <a:lstStyle/>
          <a:p>
            <a:pPr indent="0" marL="0">
              <a:buNone/>
            </a:pPr>
            <a:r>
              <a:rPr lang="en-US" sz="1000" i="1" dirty="0">
                <a:solidFill>
                  <a:srgbClr val="CBD5E1"/>
                </a:solidFill>
                <a:latin typeface="Georgia" pitchFamily="34" charset="0"/>
                <a:ea typeface="Georgia" pitchFamily="34" charset="-122"/>
                <a:cs typeface="Georgia" pitchFamily="34" charset="-120"/>
              </a:rPr>
              <a:t>"Take ten seconds of quiet now to reflect on how learning our full, shared history helps us build a stronger community today."</a:t>
            </a:r>
            <a:endParaRPr lang="en-US" sz="1000" dirty="0"/>
          </a:p>
        </p:txBody>
      </p:sp>
      <p:sp>
        <p:nvSpPr>
          <p:cNvPr id="16" name="Shape 14"/>
          <p:cNvSpPr/>
          <p:nvPr/>
        </p:nvSpPr>
        <p:spPr>
          <a:xfrm>
            <a:off x="4709160" y="2606040"/>
            <a:ext cx="3886200" cy="1325880"/>
          </a:xfrm>
          <a:prstGeom prst="roundRect">
            <a:avLst>
              <a:gd name="adj" fmla="val 4138"/>
            </a:avLst>
          </a:prstGeom>
          <a:solidFill>
            <a:srgbClr val="131D31"/>
          </a:solidFill>
          <a:ln w="12700">
            <a:solidFill>
              <a:srgbClr val="233554"/>
            </a:solidFill>
            <a:prstDash val="solid"/>
          </a:ln>
        </p:spPr>
      </p:sp>
      <p:sp>
        <p:nvSpPr>
          <p:cNvPr id="17" name="Text 15"/>
          <p:cNvSpPr/>
          <p:nvPr/>
        </p:nvSpPr>
        <p:spPr>
          <a:xfrm>
            <a:off x="4892040" y="2715768"/>
            <a:ext cx="1097280" cy="201168"/>
          </a:xfrm>
          <a:prstGeom prst="rect">
            <a:avLst/>
          </a:prstGeom>
          <a:noFill/>
          <a:ln/>
        </p:spPr>
        <p:txBody>
          <a:bodyPr wrap="square" rtlCol="0" anchor="ctr"/>
          <a:lstStyle/>
          <a:p>
            <a:pPr indent="0" marL="0">
              <a:buNone/>
            </a:pPr>
            <a:r>
              <a:rPr lang="en-US" sz="900" b="1" dirty="0">
                <a:solidFill>
                  <a:srgbClr val="F59E0B"/>
                </a:solidFill>
                <a:latin typeface="Arial" pitchFamily="34" charset="0"/>
                <a:ea typeface="Arial" pitchFamily="34" charset="-122"/>
                <a:cs typeface="Arial" pitchFamily="34" charset="-120"/>
              </a:rPr>
              <a:t>PUPIL 4</a:t>
            </a:r>
            <a:endParaRPr lang="en-US" sz="900" dirty="0"/>
          </a:p>
        </p:txBody>
      </p:sp>
      <p:sp>
        <p:nvSpPr>
          <p:cNvPr id="18" name="Text 16"/>
          <p:cNvSpPr/>
          <p:nvPr/>
        </p:nvSpPr>
        <p:spPr>
          <a:xfrm>
            <a:off x="5989320" y="2715768"/>
            <a:ext cx="2377440" cy="201168"/>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CLOSING THE ASSEMBLY</a:t>
            </a:r>
            <a:endParaRPr lang="en-US" sz="800" dirty="0"/>
          </a:p>
        </p:txBody>
      </p:sp>
      <p:sp>
        <p:nvSpPr>
          <p:cNvPr id="19" name="Text 17"/>
          <p:cNvSpPr/>
          <p:nvPr/>
        </p:nvSpPr>
        <p:spPr>
          <a:xfrm>
            <a:off x="4892040" y="2953512"/>
            <a:ext cx="3520440" cy="868680"/>
          </a:xfrm>
          <a:prstGeom prst="rect">
            <a:avLst/>
          </a:prstGeom>
          <a:noFill/>
          <a:ln/>
        </p:spPr>
        <p:txBody>
          <a:bodyPr wrap="square" rtlCol="0" anchor="ctr"/>
          <a:lstStyle/>
          <a:p>
            <a:pPr indent="0" marL="0">
              <a:buNone/>
            </a:pPr>
            <a:r>
              <a:rPr lang="en-US" sz="1000" i="1" dirty="0">
                <a:solidFill>
                  <a:srgbClr val="CBD5E1"/>
                </a:solidFill>
                <a:latin typeface="Georgia" pitchFamily="34" charset="0"/>
                <a:ea typeface="Georgia" pitchFamily="34" charset="-122"/>
                <a:cs typeface="Georgia" pitchFamily="34" charset="-120"/>
              </a:rPr>
              <a:t>"Thank you for your attention. Have a great day, everyone."</a:t>
            </a:r>
            <a:endParaRPr lang="en-US" sz="1000" dirty="0"/>
          </a:p>
        </p:txBody>
      </p:sp>
      <p:sp>
        <p:nvSpPr>
          <p:cNvPr id="20" name="Shape 18"/>
          <p:cNvSpPr/>
          <p:nvPr/>
        </p:nvSpPr>
        <p:spPr>
          <a:xfrm>
            <a:off x="548640" y="4114800"/>
            <a:ext cx="8046720" cy="685800"/>
          </a:xfrm>
          <a:prstGeom prst="roundRect">
            <a:avLst>
              <a:gd name="adj" fmla="val 8000"/>
            </a:avLst>
          </a:prstGeom>
          <a:solidFill>
            <a:srgbClr val="2A1E0D"/>
          </a:solidFill>
          <a:ln w="19050">
            <a:solidFill>
              <a:srgbClr val="F59E0B"/>
            </a:solidFill>
            <a:prstDash val="solid"/>
          </a:ln>
        </p:spPr>
      </p:sp>
      <p:sp>
        <p:nvSpPr>
          <p:cNvPr id="21" name="Text 19"/>
          <p:cNvSpPr/>
          <p:nvPr/>
        </p:nvSpPr>
        <p:spPr>
          <a:xfrm>
            <a:off x="731520" y="4224528"/>
            <a:ext cx="7680960" cy="228600"/>
          </a:xfrm>
          <a:prstGeom prst="rect">
            <a:avLst/>
          </a:prstGeom>
          <a:noFill/>
          <a:ln/>
        </p:spPr>
        <p:txBody>
          <a:bodyPr wrap="square" rtlCol="0" anchor="ctr"/>
          <a:lstStyle/>
          <a:p>
            <a:pPr algn="ctr" indent="0" marL="0">
              <a:buNone/>
            </a:pPr>
            <a:r>
              <a:rPr lang="en-US" sz="1100" b="1" dirty="0">
                <a:solidFill>
                  <a:srgbClr val="FDE68A"/>
                </a:solidFill>
                <a:latin typeface="Arial" pitchFamily="34" charset="0"/>
                <a:ea typeface="Arial" pitchFamily="34" charset="-122"/>
                <a:cs typeface="Arial" pitchFamily="34" charset="-120"/>
              </a:rPr>
              <a:t>⏱️  WHOLE SCHOOL SILENCE: 10 SECONDS OF QUIET REFLECTION</a:t>
            </a:r>
            <a:endParaRPr lang="en-US" sz="1100" dirty="0"/>
          </a:p>
        </p:txBody>
      </p:sp>
      <p:sp>
        <p:nvSpPr>
          <p:cNvPr id="22" name="Text 20"/>
          <p:cNvSpPr/>
          <p:nvPr/>
        </p:nvSpPr>
        <p:spPr>
          <a:xfrm>
            <a:off x="731520" y="4480560"/>
            <a:ext cx="7680960" cy="228600"/>
          </a:xfrm>
          <a:prstGeom prst="rect">
            <a:avLst/>
          </a:prstGeom>
          <a:noFill/>
          <a:ln/>
        </p:spPr>
        <p:txBody>
          <a:bodyPr wrap="square" rtlCol="0" anchor="ctr"/>
          <a:lstStyle/>
          <a:p>
            <a:pPr algn="ctr" indent="0" marL="0">
              <a:buNone/>
            </a:pPr>
            <a:r>
              <a:rPr lang="en-US" sz="950" dirty="0">
                <a:solidFill>
                  <a:srgbClr val="94A3B8"/>
                </a:solidFill>
                <a:latin typeface="Arial" pitchFamily="34" charset="0"/>
                <a:ea typeface="Arial" pitchFamily="34" charset="-122"/>
                <a:cs typeface="Arial" pitchFamily="34" charset="-120"/>
              </a:rPr>
              <a:t>Reflecting on 2,000 years of shared history and building a stronger school community together.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The History Revision Hub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the Single Story: Deep Roots of Black British History</dc:title>
  <dc:subject>PptxGenJS Presentation</dc:subject>
  <dc:creator>The History Department</dc:creator>
  <cp:lastModifiedBy>The History Department</cp:lastModifiedBy>
  <cp:revision>1</cp:revision>
  <dcterms:created xsi:type="dcterms:W3CDTF">2026-09-28T10:50:54Z</dcterms:created>
  <dcterms:modified xsi:type="dcterms:W3CDTF">2026-09-28T10:50:54Z</dcterms:modified>
</cp:coreProperties>
</file>