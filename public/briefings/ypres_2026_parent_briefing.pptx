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72A"/>
          </a:solidFill>
          <a:ln/>
        </p:spPr>
      </p:sp>
      <p:sp>
        <p:nvSpPr>
          <p:cNvPr id="3" name="Text 1"/>
          <p:cNvSpPr/>
          <p:nvPr/>
        </p:nvSpPr>
        <p:spPr>
          <a:xfrm>
            <a:off x="457200" y="109728"/>
            <a:ext cx="8229600" cy="320040"/>
          </a:xfrm>
          <a:prstGeom prst="rect">
            <a:avLst/>
          </a:prstGeom>
          <a:noFill/>
          <a:ln/>
        </p:spPr>
        <p:txBody>
          <a:bodyPr wrap="square" rtlCol="0" anchor="ctr"/>
          <a:lstStyle/>
          <a:p>
            <a:pPr indent="0" marL="0">
              <a:buNone/>
            </a:pPr>
            <a:r>
              <a:rPr lang="en-US" sz="1800" b="1" dirty="0">
                <a:solidFill>
                  <a:srgbClr val="F1F5F9"/>
                </a:solidFill>
                <a:latin typeface="Georgia" pitchFamily="34" charset="0"/>
                <a:ea typeface="Georgia" pitchFamily="34" charset="-122"/>
                <a:cs typeface="Georgia" pitchFamily="34" charset="-120"/>
              </a:rPr>
              <a:t>YPRES 1914–1918: REMEMBRANCE, SACRIFICE &amp; LOCAL HERITAGE</a:t>
            </a:r>
            <a:endParaRPr lang="en-US" sz="1800" dirty="0"/>
          </a:p>
        </p:txBody>
      </p:sp>
      <p:sp>
        <p:nvSpPr>
          <p:cNvPr id="4" name="Text 2"/>
          <p:cNvSpPr/>
          <p:nvPr/>
        </p:nvSpPr>
        <p:spPr>
          <a:xfrm>
            <a:off x="457200" y="429768"/>
            <a:ext cx="8229600" cy="256032"/>
          </a:xfrm>
          <a:prstGeom prst="rect">
            <a:avLst/>
          </a:prstGeom>
          <a:noFill/>
          <a:ln/>
        </p:spPr>
        <p:txBody>
          <a:bodyPr wrap="square" rtlCol="0" anchor="ctr"/>
          <a:lstStyle/>
          <a:p>
            <a:pPr indent="0" marL="0">
              <a:buNone/>
            </a:pPr>
            <a:r>
              <a:rPr lang="en-US" sz="1050" b="1" dirty="0">
                <a:solidFill>
                  <a:srgbClr val="F59E0B"/>
                </a:solidFill>
                <a:latin typeface="Arial" pitchFamily="34" charset="0"/>
                <a:ea typeface="Arial" pitchFamily="34" charset="-122"/>
                <a:cs typeface="Arial" pitchFamily="34" charset="-120"/>
              </a:rPr>
              <a:t>The History Department &amp; The History Boys · Department Lead &amp; Mr J. Garrett (Leaders) · Accompanied by Fieldwork Staff</a:t>
            </a:r>
            <a:endParaRPr lang="en-US" sz="1050" dirty="0"/>
          </a:p>
        </p:txBody>
      </p:sp>
      <p:sp>
        <p:nvSpPr>
          <p:cNvPr id="5" name="Text 3"/>
          <p:cNvSpPr/>
          <p:nvPr/>
        </p:nvSpPr>
        <p:spPr>
          <a:xfrm>
            <a:off x="457200" y="704088"/>
            <a:ext cx="8229600" cy="22860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Thursday 1st October – Saturday 3rd October 2026   |   Expedition Base: Peace Village Hostel, Flanders</a:t>
            </a:r>
            <a:endParaRPr lang="en-US" sz="1000" dirty="0"/>
          </a:p>
        </p:txBody>
      </p:sp>
      <p:sp>
        <p:nvSpPr>
          <p:cNvPr id="6" name="Shape 4"/>
          <p:cNvSpPr/>
          <p:nvPr/>
        </p:nvSpPr>
        <p:spPr>
          <a:xfrm>
            <a:off x="365760" y="1234440"/>
            <a:ext cx="2651760" cy="3337560"/>
          </a:xfrm>
          <a:prstGeom prst="roundRect">
            <a:avLst/>
          </a:prstGeom>
          <a:solidFill>
            <a:srgbClr val="FFFFFF"/>
          </a:solidFill>
          <a:ln w="12700">
            <a:solidFill>
              <a:srgbClr val="CBD5E1"/>
            </a:solidFill>
            <a:prstDash val="solid"/>
          </a:ln>
        </p:spPr>
      </p:sp>
      <p:sp>
        <p:nvSpPr>
          <p:cNvPr id="7" name="Shape 5"/>
          <p:cNvSpPr/>
          <p:nvPr/>
        </p:nvSpPr>
        <p:spPr>
          <a:xfrm>
            <a:off x="365760" y="1234440"/>
            <a:ext cx="2651760" cy="365760"/>
          </a:xfrm>
          <a:prstGeom prst="rect">
            <a:avLst/>
          </a:prstGeom>
          <a:solidFill>
            <a:srgbClr val="1E3A8A"/>
          </a:solidFill>
          <a:ln/>
        </p:spPr>
      </p:sp>
      <p:sp>
        <p:nvSpPr>
          <p:cNvPr id="8" name="Text 6"/>
          <p:cNvSpPr/>
          <p:nvPr/>
        </p:nvSpPr>
        <p:spPr>
          <a:xfrm>
            <a:off x="457200" y="1298448"/>
            <a:ext cx="2468880" cy="22860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1. 3-DAY EXPEDITION ITINERARY</a:t>
            </a:r>
            <a:endParaRPr lang="en-US" sz="1000" dirty="0"/>
          </a:p>
        </p:txBody>
      </p:sp>
      <p:sp>
        <p:nvSpPr>
          <p:cNvPr id="9" name="Text 7"/>
          <p:cNvSpPr/>
          <p:nvPr/>
        </p:nvSpPr>
        <p:spPr>
          <a:xfrm>
            <a:off x="502920" y="1691640"/>
            <a:ext cx="2377440" cy="2788920"/>
          </a:xfrm>
          <a:prstGeom prst="rect">
            <a:avLst/>
          </a:prstGeom>
          <a:noFill/>
          <a:ln/>
        </p:spPr>
        <p:txBody>
          <a:bodyPr wrap="square" rtlCol="0" anchor="ctr"/>
          <a:lstStyle/>
          <a:p>
            <a:pPr indent="0" marL="0">
              <a:lnSpc>
                <a:spcPct val="105000"/>
              </a:lnSpc>
              <a:buNone/>
            </a:pPr>
            <a:r>
              <a:rPr lang="en-US" sz="950" b="1" dirty="0">
                <a:solidFill>
                  <a:srgbClr val="0F172A"/>
                </a:solidFill>
                <a:latin typeface="Arial" pitchFamily="34" charset="0"/>
                <a:ea typeface="Arial" pitchFamily="34" charset="-122"/>
                <a:cs typeface="Arial" pitchFamily="34" charset="-120"/>
              </a:rPr>
              <a:t>Day 1: North Salient &amp; Mine Warfare
</a:t>
            </a:r>
            <a:pPr indent="0" marL="0">
              <a:lnSpc>
                <a:spcPct val="105000"/>
              </a:lnSpc>
              <a:buNone/>
            </a:pPr>
            <a:r>
              <a:rPr lang="en-US" sz="820" dirty="0">
                <a:solidFill>
                  <a:srgbClr val="334155"/>
                </a:solidFill>
                <a:latin typeface="Arial" pitchFamily="34" charset="0"/>
                <a:ea typeface="Arial" pitchFamily="34" charset="-122"/>
                <a:cs typeface="Arial" pitchFamily="34" charset="-120"/>
              </a:rPr>
              <a:t>• 06:15 departure from The History Portal (Jet Connect).
• 11:20 Eurotunnel; 14:30 Essex Farm ADS (Valentine Strudwick).
• 15:15 Langemarck &amp; 16:00 Hooge Crater Museum.
• 17:45 Peace Village, 18:15 dinner &amp; 19:15 classroom debrief.
</a:t>
            </a:r>
            <a:pPr indent="0" marL="0">
              <a:lnSpc>
                <a:spcPct val="105000"/>
              </a:lnSpc>
              <a:buNone/>
            </a:pPr>
            <a:r>
              <a:rPr lang="en-US" sz="950" b="1" dirty="0">
                <a:solidFill>
                  <a:srgbClr val="0F172A"/>
                </a:solidFill>
                <a:latin typeface="Arial" pitchFamily="34" charset="0"/>
                <a:ea typeface="Arial" pitchFamily="34" charset="-122"/>
                <a:cs typeface="Arial" pitchFamily="34" charset="-120"/>
              </a:rPr>
              <a:t>Day 2: Passchendaele, Medical Sites &amp; Last Post
</a:t>
            </a:r>
            <a:pPr indent="0" marL="0">
              <a:lnSpc>
                <a:spcPct val="105000"/>
              </a:lnSpc>
              <a:buNone/>
            </a:pPr>
            <a:r>
              <a:rPr lang="en-US" sz="820" dirty="0">
                <a:solidFill>
                  <a:srgbClr val="334155"/>
                </a:solidFill>
                <a:latin typeface="Arial" pitchFamily="34" charset="0"/>
                <a:ea typeface="Arial" pitchFamily="34" charset="-122"/>
                <a:cs typeface="Arial" pitchFamily="34" charset="-120"/>
              </a:rPr>
              <a:t>• 09:15 Brooding Soldier &amp; 09:45 Sanctuary Wood.
• 11:30 Aldi Ypres lunch stop; 13:00 Tyne Cot (our fallen).
• 14:15 Lijssenthoek CCS &amp; 15:45 Passchendaele Museum.
• 18:00 dinner; 19:20 arrive Menin Gate for 20:00 Last Post.
</a:t>
            </a:r>
            <a:pPr indent="0" marL="0">
              <a:lnSpc>
                <a:spcPct val="105000"/>
              </a:lnSpc>
              <a:buNone/>
            </a:pPr>
            <a:r>
              <a:rPr lang="en-US" sz="950" b="1" dirty="0">
                <a:solidFill>
                  <a:srgbClr val="0F172A"/>
                </a:solidFill>
                <a:latin typeface="Arial" pitchFamily="34" charset="0"/>
                <a:ea typeface="Arial" pitchFamily="34" charset="-122"/>
                <a:cs typeface="Arial" pitchFamily="34" charset="-120"/>
              </a:rPr>
              <a:t>Day 3: Ypres Daylight, Talbot House &amp; Return
</a:t>
            </a:r>
            <a:pPr indent="0" marL="0">
              <a:lnSpc>
                <a:spcPct val="105000"/>
              </a:lnSpc>
              <a:buNone/>
            </a:pPr>
            <a:r>
              <a:rPr lang="en-US" sz="820" dirty="0">
                <a:solidFill>
                  <a:srgbClr val="334155"/>
                </a:solidFill>
                <a:latin typeface="Arial" pitchFamily="34" charset="0"/>
                <a:ea typeface="Arial" pitchFamily="34" charset="-122"/>
                <a:cs typeface="Arial" pitchFamily="34" charset="-120"/>
              </a:rPr>
              <a:t>• 09:15 Menin Gate &amp; Ramparts walk.</a:t>
            </a:r>
            <a:endParaRPr lang="en-US" sz="950" dirty="0"/>
          </a:p>
          <a:p>
            <a:pPr indent="0" marL="0">
              <a:lnSpc>
                <a:spcPct val="105000"/>
              </a:lnSpc>
              <a:buNone/>
            </a:pPr>
            <a:r>
              <a:rPr lang="en-US" sz="820" dirty="0">
                <a:solidFill>
                  <a:srgbClr val="334155"/>
                </a:solidFill>
                <a:latin typeface="Arial" pitchFamily="34" charset="0"/>
                <a:ea typeface="Arial" pitchFamily="34" charset="-122"/>
                <a:cs typeface="Arial" pitchFamily="34" charset="-120"/>
              </a:rPr>
              <a:t>• 10:30 De Groote’s Chocolatier (Grote Markt; €30–€40 envelope).</a:t>
            </a:r>
            <a:endParaRPr lang="en-US" sz="950" dirty="0"/>
          </a:p>
          <a:p>
            <a:pPr indent="0" marL="0">
              <a:lnSpc>
                <a:spcPct val="105000"/>
              </a:lnSpc>
              <a:buNone/>
            </a:pPr>
            <a:r>
              <a:rPr lang="en-US" sz="820" dirty="0">
                <a:solidFill>
                  <a:srgbClr val="334155"/>
                </a:solidFill>
                <a:latin typeface="Arial" pitchFamily="34" charset="0"/>
                <a:ea typeface="Arial" pitchFamily="34" charset="-122"/>
                <a:cs typeface="Arial" pitchFamily="34" charset="-120"/>
              </a:rPr>
              <a:t>• 11:20 Talbot House, 12:45 lunch, 13:30 Town Hall Death Cells.</a:t>
            </a:r>
            <a:endParaRPr lang="en-US" sz="950" dirty="0"/>
          </a:p>
          <a:p>
            <a:pPr indent="0" marL="0">
              <a:lnSpc>
                <a:spcPct val="105000"/>
              </a:lnSpc>
              <a:buNone/>
            </a:pPr>
            <a:r>
              <a:rPr lang="en-US" sz="820" dirty="0">
                <a:solidFill>
                  <a:srgbClr val="334155"/>
                </a:solidFill>
                <a:latin typeface="Arial" pitchFamily="34" charset="0"/>
                <a:ea typeface="Arial" pitchFamily="34" charset="-122"/>
                <a:cs typeface="Arial" pitchFamily="34" charset="-120"/>
              </a:rPr>
              <a:t>• 14:30 depart for Calais; arrive school approx 20:00.</a:t>
            </a:r>
            <a:endParaRPr lang="en-US" sz="950" dirty="0"/>
          </a:p>
        </p:txBody>
      </p:sp>
      <p:sp>
        <p:nvSpPr>
          <p:cNvPr id="10" name="Shape 8"/>
          <p:cNvSpPr/>
          <p:nvPr/>
        </p:nvSpPr>
        <p:spPr>
          <a:xfrm>
            <a:off x="3246120" y="1234440"/>
            <a:ext cx="2651760" cy="3337560"/>
          </a:xfrm>
          <a:prstGeom prst="roundRect">
            <a:avLst/>
          </a:prstGeom>
          <a:solidFill>
            <a:srgbClr val="FFFFFF"/>
          </a:solidFill>
          <a:ln w="12700">
            <a:solidFill>
              <a:srgbClr val="CBD5E1"/>
            </a:solidFill>
            <a:prstDash val="solid"/>
          </a:ln>
        </p:spPr>
      </p:sp>
      <p:sp>
        <p:nvSpPr>
          <p:cNvPr id="11" name="Shape 9"/>
          <p:cNvSpPr/>
          <p:nvPr/>
        </p:nvSpPr>
        <p:spPr>
          <a:xfrm>
            <a:off x="3246120" y="1234440"/>
            <a:ext cx="2651760" cy="365760"/>
          </a:xfrm>
          <a:prstGeom prst="rect">
            <a:avLst/>
          </a:prstGeom>
          <a:solidFill>
            <a:srgbClr val="B45309"/>
          </a:solidFill>
          <a:ln/>
        </p:spPr>
      </p:sp>
      <p:sp>
        <p:nvSpPr>
          <p:cNvPr id="12" name="Text 10"/>
          <p:cNvSpPr/>
          <p:nvPr/>
        </p:nvSpPr>
        <p:spPr>
          <a:xfrm>
            <a:off x="3337560" y="1298448"/>
            <a:ext cx="2468880" cy="22860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2. FOOD, MONEY &amp; ROOMING</a:t>
            </a:r>
            <a:endParaRPr lang="en-US" sz="1000" dirty="0"/>
          </a:p>
        </p:txBody>
      </p:sp>
      <p:sp>
        <p:nvSpPr>
          <p:cNvPr id="13" name="Text 11"/>
          <p:cNvSpPr/>
          <p:nvPr/>
        </p:nvSpPr>
        <p:spPr>
          <a:xfrm>
            <a:off x="3383280" y="1691640"/>
            <a:ext cx="2377440" cy="2788920"/>
          </a:xfrm>
          <a:prstGeom prst="rect">
            <a:avLst/>
          </a:prstGeom>
          <a:noFill/>
          <a:ln/>
        </p:spPr>
        <p:txBody>
          <a:bodyPr wrap="square" rtlCol="0" anchor="ctr"/>
          <a:lstStyle/>
          <a:p>
            <a:pPr indent="0" marL="0">
              <a:lnSpc>
                <a:spcPct val="105000"/>
              </a:lnSpc>
              <a:buNone/>
            </a:pPr>
            <a:r>
              <a:rPr lang="en-US" sz="950" b="1" dirty="0">
                <a:solidFill>
                  <a:srgbClr val="0F172A"/>
                </a:solidFill>
                <a:latin typeface="Arial" pitchFamily="34" charset="0"/>
                <a:ea typeface="Arial" pitchFamily="34" charset="-122"/>
                <a:cs typeface="Arial" pitchFamily="34" charset="-120"/>
              </a:rPr>
              <a:t>Catering &amp; Meals Provided:
</a:t>
            </a:r>
            <a:pPr indent="0" marL="0">
              <a:lnSpc>
                <a:spcPct val="105000"/>
              </a:lnSpc>
              <a:buNone/>
            </a:pPr>
            <a:r>
              <a:rPr lang="en-US" sz="850" dirty="0">
                <a:solidFill>
                  <a:srgbClr val="334155"/>
                </a:solidFill>
                <a:latin typeface="Arial" pitchFamily="34" charset="0"/>
                <a:ea typeface="Arial" pitchFamily="34" charset="-122"/>
                <a:cs typeface="Arial" pitchFamily="34" charset="-120"/>
              </a:rPr>
              <a:t>• Thu Day 1: Bring packed lunch from home.
• Buffet breakfasts at hostel (Fri &amp; Sat mornings).
• 2-course dinners served on-site at Peace Village.
</a:t>
            </a:r>
            <a:pPr indent="0" marL="0">
              <a:lnSpc>
                <a:spcPct val="105000"/>
              </a:lnSpc>
              <a:buNone/>
            </a:pPr>
            <a:r>
              <a:rPr lang="en-US" sz="950" b="1" dirty="0">
                <a:solidFill>
                  <a:srgbClr val="0F172A"/>
                </a:solidFill>
                <a:latin typeface="Arial" pitchFamily="34" charset="0"/>
                <a:ea typeface="Arial" pitchFamily="34" charset="-122"/>
                <a:cs typeface="Arial" pitchFamily="34" charset="-120"/>
              </a:rPr>
              <a:t>Spending Money (Euros):
</a:t>
            </a:r>
            <a:pPr indent="0" marL="0">
              <a:lnSpc>
                <a:spcPct val="105000"/>
              </a:lnSpc>
              <a:buNone/>
            </a:pPr>
            <a:r>
              <a:rPr lang="en-US" sz="850" dirty="0">
                <a:solidFill>
                  <a:srgbClr val="334155"/>
                </a:solidFill>
                <a:latin typeface="Arial" pitchFamily="34" charset="0"/>
                <a:ea typeface="Arial" pitchFamily="34" charset="-122"/>
                <a:cs typeface="Arial" pitchFamily="34" charset="-120"/>
              </a:rPr>
              <a:t>• Pupils need €30 to €40 in cash (Euros).
• Used for supermarket lunch stops on Friday and Saturday, chocolates &amp; souvenirs.
</a:t>
            </a:r>
            <a:pPr indent="0" marL="0">
              <a:lnSpc>
                <a:spcPct val="105000"/>
              </a:lnSpc>
              <a:buNone/>
            </a:pPr>
            <a:r>
              <a:rPr lang="en-US" sz="950" b="1" dirty="0">
                <a:solidFill>
                  <a:srgbClr val="0F172A"/>
                </a:solidFill>
                <a:latin typeface="Arial" pitchFamily="34" charset="0"/>
                <a:ea typeface="Arial" pitchFamily="34" charset="-122"/>
                <a:cs typeface="Arial" pitchFamily="34" charset="-120"/>
              </a:rPr>
              <a:t>Accommodation &amp; Rooming:
</a:t>
            </a:r>
            <a:pPr indent="0" marL="0">
              <a:lnSpc>
                <a:spcPct val="105000"/>
              </a:lnSpc>
              <a:buNone/>
            </a:pPr>
            <a:r>
              <a:rPr lang="en-US" sz="850" dirty="0">
                <a:solidFill>
                  <a:srgbClr val="334155"/>
                </a:solidFill>
                <a:latin typeface="Arial" pitchFamily="34" charset="0"/>
                <a:ea typeface="Arial" pitchFamily="34" charset="-122"/>
                <a:cs typeface="Arial" pitchFamily="34" charset="-120"/>
              </a:rPr>
              <a:t>• Peace Village Hostel, Heuvelland (4-7 bunks).</a:t>
            </a:r>
            <a:endParaRPr lang="en-US" sz="950" dirty="0"/>
          </a:p>
          <a:p>
            <a:pPr indent="0" marL="0">
              <a:lnSpc>
                <a:spcPct val="105000"/>
              </a:lnSpc>
              <a:buNone/>
            </a:pPr>
            <a:r>
              <a:rPr lang="en-US" sz="850" dirty="0">
                <a:solidFill>
                  <a:srgbClr val="334155"/>
                </a:solidFill>
                <a:latin typeface="Arial" pitchFamily="34" charset="0"/>
                <a:ea typeface="Arial" pitchFamily="34" charset="-122"/>
                <a:cs typeface="Arial" pitchFamily="34" charset="-120"/>
              </a:rPr>
              <a:t>• Rooming sent in ~2 weeks (friend requests).</a:t>
            </a:r>
            <a:endParaRPr lang="en-US" sz="950" dirty="0"/>
          </a:p>
          <a:p>
            <a:pPr indent="0" marL="0">
              <a:lnSpc>
                <a:spcPct val="105000"/>
              </a:lnSpc>
              <a:buNone/>
            </a:pPr>
            <a:r>
              <a:rPr lang="en-US" sz="850" dirty="0">
                <a:solidFill>
                  <a:srgbClr val="334155"/>
                </a:solidFill>
                <a:latin typeface="Arial" pitchFamily="34" charset="0"/>
                <a:ea typeface="Arial" pitchFamily="34" charset="-122"/>
                <a:cs typeface="Arial" pitchFamily="34" charset="-120"/>
              </a:rPr>
              <a:t>• Dietary options (e.g. vegetarian) gathered alongside rooming info.</a:t>
            </a:r>
            <a:endParaRPr lang="en-US" sz="950" dirty="0"/>
          </a:p>
        </p:txBody>
      </p:sp>
      <p:sp>
        <p:nvSpPr>
          <p:cNvPr id="14" name="Shape 12"/>
          <p:cNvSpPr/>
          <p:nvPr/>
        </p:nvSpPr>
        <p:spPr>
          <a:xfrm>
            <a:off x="6126480" y="1234440"/>
            <a:ext cx="2651760" cy="3337560"/>
          </a:xfrm>
          <a:prstGeom prst="roundRect">
            <a:avLst/>
          </a:prstGeom>
          <a:solidFill>
            <a:srgbClr val="FFFFFF"/>
          </a:solidFill>
          <a:ln w="12700">
            <a:solidFill>
              <a:srgbClr val="CBD5E1"/>
            </a:solidFill>
            <a:prstDash val="solid"/>
          </a:ln>
        </p:spPr>
      </p:sp>
      <p:sp>
        <p:nvSpPr>
          <p:cNvPr id="15" name="Shape 13"/>
          <p:cNvSpPr/>
          <p:nvPr/>
        </p:nvSpPr>
        <p:spPr>
          <a:xfrm>
            <a:off x="6126480" y="1234440"/>
            <a:ext cx="2651760" cy="365760"/>
          </a:xfrm>
          <a:prstGeom prst="rect">
            <a:avLst/>
          </a:prstGeom>
          <a:solidFill>
            <a:srgbClr val="15803D"/>
          </a:solidFill>
          <a:ln/>
        </p:spPr>
      </p:sp>
      <p:sp>
        <p:nvSpPr>
          <p:cNvPr id="16" name="Text 14"/>
          <p:cNvSpPr/>
          <p:nvPr/>
        </p:nvSpPr>
        <p:spPr>
          <a:xfrm>
            <a:off x="6217920" y="1298448"/>
            <a:ext cx="2468880" cy="22860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3. ESSENTIAL KIT &amp; NEXT STEPS</a:t>
            </a:r>
            <a:endParaRPr lang="en-US" sz="1000" dirty="0"/>
          </a:p>
        </p:txBody>
      </p:sp>
      <p:sp>
        <p:nvSpPr>
          <p:cNvPr id="17" name="Text 15"/>
          <p:cNvSpPr/>
          <p:nvPr/>
        </p:nvSpPr>
        <p:spPr>
          <a:xfrm>
            <a:off x="6263640" y="1691640"/>
            <a:ext cx="2377440" cy="2788920"/>
          </a:xfrm>
          <a:prstGeom prst="rect">
            <a:avLst/>
          </a:prstGeom>
          <a:noFill/>
          <a:ln/>
        </p:spPr>
        <p:txBody>
          <a:bodyPr wrap="square" rtlCol="0" anchor="ctr"/>
          <a:lstStyle/>
          <a:p>
            <a:pPr indent="0" marL="0">
              <a:lnSpc>
                <a:spcPct val="102000"/>
              </a:lnSpc>
              <a:buNone/>
            </a:pPr>
            <a:r>
              <a:rPr lang="en-US" sz="900" b="1" dirty="0">
                <a:solidFill>
                  <a:srgbClr val="0F172A"/>
                </a:solidFill>
                <a:latin typeface="Arial" pitchFamily="34" charset="0"/>
                <a:ea typeface="Arial" pitchFamily="34" charset="-122"/>
                <a:cs typeface="Arial" pitchFamily="34" charset="-120"/>
              </a:rPr>
              <a:t>Essential Packing (Autumn Weather):
</a:t>
            </a:r>
            <a:pPr indent="0" marL="0">
              <a:lnSpc>
                <a:spcPct val="102000"/>
              </a:lnSpc>
              <a:buNone/>
            </a:pPr>
            <a:r>
              <a:rPr lang="en-US" sz="780" dirty="0">
                <a:solidFill>
                  <a:srgbClr val="334155"/>
                </a:solidFill>
                <a:latin typeface="Arial" pitchFamily="34" charset="0"/>
                <a:ea typeface="Arial" pitchFamily="34" charset="-122"/>
                <a:cs typeface="Arial" pitchFamily="34" charset="-120"/>
              </a:rPr>
              <a:t>• Boots/wellies + spare clean shoes + plastic bag.
• Bath towel (mandatory) &amp; roll-on toiletries.
• Waterproof raincoat, warm fleece, hat &amp; gloves.
• 1 medium case (&lt;15kg) + 1 coach daypack.
</a:t>
            </a:r>
            <a:pPr indent="0" marL="0">
              <a:lnSpc>
                <a:spcPct val="102000"/>
              </a:lnSpc>
              <a:buNone/>
            </a:pPr>
            <a:r>
              <a:rPr lang="en-US" sz="900" b="1" dirty="0">
                <a:solidFill>
                  <a:srgbClr val="0F172A"/>
                </a:solidFill>
                <a:latin typeface="Arial" pitchFamily="34" charset="0"/>
                <a:ea typeface="Arial" pitchFamily="34" charset="-122"/>
                <a:cs typeface="Arial" pitchFamily="34" charset="-120"/>
              </a:rPr>
              <a:t>Documents, Health &amp; Medication:
</a:t>
            </a:r>
            <a:pPr indent="0" marL="0">
              <a:lnSpc>
                <a:spcPct val="102000"/>
              </a:lnSpc>
              <a:buNone/>
            </a:pPr>
            <a:r>
              <a:rPr lang="en-US" sz="780" dirty="0">
                <a:solidFill>
                  <a:srgbClr val="334155"/>
                </a:solidFill>
                <a:latin typeface="Arial" pitchFamily="34" charset="0"/>
                <a:ea typeface="Arial" pitchFamily="34" charset="-122"/>
                <a:cs typeface="Arial" pitchFamily="34" charset="-120"/>
              </a:rPr>
              <a:t>• Passports &amp; GHIC: Collected tonight!
• Medication forms tonight: original packaging only; prescription must show child's name.
• Code of Conduct Agreement due Fri 25 Sep.
</a:t>
            </a:r>
            <a:pPr indent="0" marL="0">
              <a:lnSpc>
                <a:spcPct val="102000"/>
              </a:lnSpc>
              <a:buNone/>
            </a:pPr>
            <a:r>
              <a:rPr lang="en-US" sz="900" b="1" dirty="0">
                <a:solidFill>
                  <a:srgbClr val="0F172A"/>
                </a:solidFill>
                <a:latin typeface="Arial" pitchFamily="34" charset="0"/>
                <a:ea typeface="Arial" pitchFamily="34" charset="-122"/>
                <a:cs typeface="Arial" pitchFamily="34" charset="-120"/>
              </a:rPr>
              <a:t>Communications &amp; 24/7 Emergency:
</a:t>
            </a:r>
            <a:pPr indent="0" marL="0">
              <a:lnSpc>
                <a:spcPct val="102000"/>
              </a:lnSpc>
              <a:buNone/>
            </a:pPr>
            <a:r>
              <a:rPr lang="en-US" sz="780" dirty="0">
                <a:solidFill>
                  <a:srgbClr val="334155"/>
                </a:solidFill>
                <a:latin typeface="Arial" pitchFamily="34" charset="0"/>
                <a:ea typeface="Arial" pitchFamily="34" charset="-122"/>
                <a:cs typeface="Arial" pitchFamily="34" charset="-120"/>
              </a:rPr>
              <a:t>• 24/7 Trip Mobile: 07825 297749 (keep lines reachable).</a:t>
            </a:r>
            <a:endParaRPr lang="en-US" sz="900" dirty="0"/>
          </a:p>
          <a:p>
            <a:pPr indent="0" marL="0">
              <a:lnSpc>
                <a:spcPct val="102000"/>
              </a:lnSpc>
              <a:buNone/>
            </a:pPr>
            <a:r>
              <a:rPr lang="en-US" sz="780" dirty="0">
                <a:solidFill>
                  <a:srgbClr val="334155"/>
                </a:solidFill>
                <a:latin typeface="Arial" pitchFamily="34" charset="0"/>
                <a:ea typeface="Arial" pitchFamily="34" charset="-122"/>
                <a:cs typeface="Arial" pitchFamily="34" charset="-120"/>
              </a:rPr>
              <a:t>• WhatsApp Group: Join via QR tonight for tour photos.</a:t>
            </a:r>
            <a:endParaRPr lang="en-US" sz="900" dirty="0"/>
          </a:p>
          <a:p>
            <a:pPr indent="0" marL="0">
              <a:lnSpc>
                <a:spcPct val="102000"/>
              </a:lnSpc>
              <a:buNone/>
            </a:pPr>
            <a:r>
              <a:rPr lang="en-US" sz="780" dirty="0">
                <a:solidFill>
                  <a:srgbClr val="334155"/>
                </a:solidFill>
                <a:latin typeface="Arial" pitchFamily="34" charset="0"/>
                <a:ea typeface="Arial" pitchFamily="34" charset="-122"/>
                <a:cs typeface="Arial" pitchFamily="34" charset="-120"/>
              </a:rPr>
              <a:t>• Student phones collected in staff bag at night.</a:t>
            </a:r>
            <a:endParaRPr lang="en-US" sz="900" dirty="0"/>
          </a:p>
        </p:txBody>
      </p:sp>
      <p:sp>
        <p:nvSpPr>
          <p:cNvPr id="18" name="Shape 16"/>
          <p:cNvSpPr/>
          <p:nvPr/>
        </p:nvSpPr>
        <p:spPr>
          <a:xfrm>
            <a:off x="0" y="4663440"/>
            <a:ext cx="9144000" cy="480060"/>
          </a:xfrm>
          <a:prstGeom prst="rect">
            <a:avLst/>
          </a:prstGeom>
          <a:solidFill>
            <a:srgbClr val="0F172A"/>
          </a:solidFill>
          <a:ln/>
        </p:spPr>
      </p:sp>
      <p:pic>
        <p:nvPicPr>
          <p:cNvPr id="19" name="Image 0" descr="preencoded.png">    </p:cNvPr>
          <p:cNvPicPr>
            <a:picLocks noChangeAspect="1"/>
          </p:cNvPicPr>
          <p:nvPr/>
        </p:nvPicPr>
        <p:blipFill>
          <a:blip r:embed="rId1"/>
          <a:stretch>
            <a:fillRect/>
          </a:stretch>
        </p:blipFill>
        <p:spPr>
          <a:xfrm>
            <a:off x="457200" y="4681728"/>
            <a:ext cx="438912" cy="438912"/>
          </a:xfrm>
          <a:prstGeom prst="rect">
            <a:avLst/>
          </a:prstGeom>
        </p:spPr>
      </p:pic>
      <p:sp>
        <p:nvSpPr>
          <p:cNvPr id="20" name="Text 17"/>
          <p:cNvSpPr/>
          <p:nvPr/>
        </p:nvSpPr>
        <p:spPr>
          <a:xfrm>
            <a:off x="1005840" y="4709160"/>
            <a:ext cx="4754880" cy="1828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INTERACTIVE DIGITAL FIELD GUIDE:  the-history-revision-hub.netlify.app</a:t>
            </a:r>
            <a:endParaRPr lang="en-US" sz="1000" dirty="0"/>
          </a:p>
        </p:txBody>
      </p:sp>
      <p:sp>
        <p:nvSpPr>
          <p:cNvPr id="21" name="Text 18"/>
          <p:cNvSpPr/>
          <p:nvPr/>
        </p:nvSpPr>
        <p:spPr>
          <a:xfrm>
            <a:off x="1005840" y="4882896"/>
            <a:ext cx="4754880" cy="164592"/>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Scan QR or visit URL · 24/7 Trip Mobile: 07825 297749 (Emergency &amp; calls from staff)</a:t>
            </a:r>
            <a:endParaRPr lang="en-US" sz="800" dirty="0"/>
          </a:p>
        </p:txBody>
      </p:sp>
      <p:sp>
        <p:nvSpPr>
          <p:cNvPr id="22" name="Text 19"/>
          <p:cNvSpPr/>
          <p:nvPr/>
        </p:nvSpPr>
        <p:spPr>
          <a:xfrm>
            <a:off x="5852160" y="4700016"/>
            <a:ext cx="3108960" cy="347472"/>
          </a:xfrm>
          <a:prstGeom prst="rect">
            <a:avLst/>
          </a:prstGeom>
          <a:noFill/>
          <a:ln/>
        </p:spPr>
        <p:txBody>
          <a:bodyPr wrap="square" rtlCol="0" anchor="ctr"/>
          <a:lstStyle/>
          <a:p>
            <a:pPr algn="r" indent="0" marL="0">
              <a:buNone/>
            </a:pPr>
            <a:r>
              <a:rPr lang="en-US" sz="850" b="1" dirty="0">
                <a:solidFill>
                  <a:srgbClr val="F59E0B"/>
                </a:solidFill>
                <a:latin typeface="Arial" pitchFamily="34" charset="0"/>
                <a:ea typeface="Arial" pitchFamily="34" charset="-122"/>
                <a:cs typeface="Arial" pitchFamily="34" charset="-120"/>
              </a:rPr>
              <a:t>🚨 24/7 Mobile: 07825 297749</a:t>
            </a:r>
            <a:endParaRPr lang="en-US" sz="850" dirty="0"/>
          </a:p>
          <a:p>
            <a:pPr algn="r" indent="0" marL="0">
              <a:buNone/>
            </a:pPr>
            <a:r>
              <a:rPr lang="en-US" sz="850" b="1" dirty="0">
                <a:solidFill>
                  <a:srgbClr val="F59E0B"/>
                </a:solidFill>
                <a:latin typeface="Arial" pitchFamily="34" charset="0"/>
                <a:ea typeface="Arial" pitchFamily="34" charset="-122"/>
                <a:cs typeface="Arial" pitchFamily="34" charset="-120"/>
              </a:rPr>
              <a:t>Fieldwork Support: 07825 297749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37160"/>
            <a:ext cx="8046720" cy="320040"/>
          </a:xfrm>
          <a:prstGeom prst="rect">
            <a:avLst/>
          </a:prstGeom>
          <a:noFill/>
          <a:ln/>
        </p:spPr>
        <p:txBody>
          <a:bodyPr wrap="square" rtlCol="0" anchor="ctr"/>
          <a:lstStyle/>
          <a:p>
            <a:pPr indent="0" marL="0">
              <a:buNone/>
            </a:pPr>
            <a:r>
              <a:rPr lang="en-US" sz="1600" b="1" dirty="0">
                <a:solidFill>
                  <a:srgbClr val="F1F5F9"/>
                </a:solidFill>
                <a:latin typeface="Georgia" pitchFamily="34" charset="0"/>
                <a:ea typeface="Georgia" pitchFamily="34" charset="-122"/>
                <a:cs typeface="Georgia" pitchFamily="34" charset="-120"/>
              </a:rPr>
              <a:t>DETAILED PACKING LIST &amp; PRACTICAL CHECKLIST</a:t>
            </a:r>
            <a:endParaRPr lang="en-US" sz="1600" dirty="0"/>
          </a:p>
        </p:txBody>
      </p:sp>
      <p:sp>
        <p:nvSpPr>
          <p:cNvPr id="4" name="Text 2"/>
          <p:cNvSpPr/>
          <p:nvPr/>
        </p:nvSpPr>
        <p:spPr>
          <a:xfrm>
            <a:off x="548640" y="457200"/>
            <a:ext cx="8046720" cy="22860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Preparation advice for autumn weather in the Flanders Salient · The History Department</a:t>
            </a:r>
            <a:endParaRPr lang="en-US" sz="1000" dirty="0"/>
          </a:p>
        </p:txBody>
      </p:sp>
      <p:sp>
        <p:nvSpPr>
          <p:cNvPr id="5" name="Shape 3"/>
          <p:cNvSpPr/>
          <p:nvPr/>
        </p:nvSpPr>
        <p:spPr>
          <a:xfrm>
            <a:off x="548640" y="960120"/>
            <a:ext cx="3931920" cy="1783080"/>
          </a:xfrm>
          <a:prstGeom prst="roundRect">
            <a:avLst/>
          </a:prstGeom>
          <a:solidFill>
            <a:srgbClr val="FFFFFF"/>
          </a:solidFill>
          <a:ln w="12700">
            <a:solidFill>
              <a:srgbClr val="CBD5E1"/>
            </a:solidFill>
            <a:prstDash val="solid"/>
          </a:ln>
        </p:spPr>
      </p:sp>
      <p:sp>
        <p:nvSpPr>
          <p:cNvPr id="6" name="Text 4"/>
          <p:cNvSpPr/>
          <p:nvPr/>
        </p:nvSpPr>
        <p:spPr>
          <a:xfrm>
            <a:off x="731520" y="1051560"/>
            <a:ext cx="3566160" cy="228600"/>
          </a:xfrm>
          <a:prstGeom prst="rect">
            <a:avLst/>
          </a:prstGeom>
          <a:noFill/>
          <a:ln/>
        </p:spPr>
        <p:txBody>
          <a:bodyPr wrap="square" rtlCol="0" anchor="ctr"/>
          <a:lstStyle/>
          <a:p>
            <a:pPr indent="0" marL="0">
              <a:buNone/>
            </a:pPr>
            <a:r>
              <a:rPr lang="en-US" sz="1100" b="1" dirty="0">
                <a:solidFill>
                  <a:srgbClr val="1E3A8A"/>
                </a:solidFill>
                <a:latin typeface="Arial" pitchFamily="34" charset="0"/>
                <a:ea typeface="Arial" pitchFamily="34" charset="-122"/>
                <a:cs typeface="Arial" pitchFamily="34" charset="-120"/>
              </a:rPr>
              <a:t>🥾 FOOTWEAR &amp; SANCTUARY WOOD PREPARATION</a:t>
            </a:r>
            <a:endParaRPr lang="en-US" sz="1100" dirty="0"/>
          </a:p>
        </p:txBody>
      </p:sp>
      <p:sp>
        <p:nvSpPr>
          <p:cNvPr id="7" name="Text 5"/>
          <p:cNvSpPr/>
          <p:nvPr/>
        </p:nvSpPr>
        <p:spPr>
          <a:xfrm>
            <a:off x="731520" y="1298448"/>
            <a:ext cx="3566160" cy="1325880"/>
          </a:xfrm>
          <a:prstGeom prst="rect">
            <a:avLst/>
          </a:prstGeom>
          <a:noFill/>
          <a:ln/>
        </p:spPr>
        <p:txBody>
          <a:bodyPr wrap="square" rtlCol="0" anchor="ctr"/>
          <a:lstStyle/>
          <a:p>
            <a:pPr indent="0" marL="0">
              <a:lnSpc>
                <a:spcPct val="105000"/>
              </a:lnSpc>
              <a:buNone/>
            </a:pPr>
            <a:r>
              <a:rPr lang="en-US" sz="850" b="1" dirty="0">
                <a:solidFill>
                  <a:srgbClr val="334155"/>
                </a:solidFill>
                <a:latin typeface="Arial" pitchFamily="34" charset="0"/>
                <a:ea typeface="Arial" pitchFamily="34" charset="-122"/>
                <a:cs typeface="Arial" pitchFamily="34" charset="-120"/>
              </a:rPr>
              <a:t>• Sanctuary Wood Trenches: </a:t>
            </a:r>
            <a:pPr indent="0" marL="0">
              <a:lnSpc>
                <a:spcPct val="105000"/>
              </a:lnSpc>
              <a:buNone/>
            </a:pPr>
            <a:r>
              <a:rPr lang="en-US" sz="850" dirty="0">
                <a:solidFill>
                  <a:srgbClr val="334155"/>
                </a:solidFill>
                <a:latin typeface="Arial" pitchFamily="34" charset="0"/>
                <a:ea typeface="Arial" pitchFamily="34" charset="-122"/>
                <a:cs typeface="Arial" pitchFamily="34" charset="-120"/>
              </a:rPr>
              <a:t>Real, muddy frontline trenches. Must bring boots/wellies!
</a:t>
            </a:r>
            <a:pPr indent="0" marL="0">
              <a:lnSpc>
                <a:spcPct val="105000"/>
              </a:lnSpc>
              <a:buNone/>
            </a:pPr>
            <a:r>
              <a:rPr lang="en-US" sz="850" b="1" dirty="0">
                <a:solidFill>
                  <a:srgbClr val="334155"/>
                </a:solidFill>
                <a:latin typeface="Arial" pitchFamily="34" charset="0"/>
                <a:ea typeface="Arial" pitchFamily="34" charset="-122"/>
                <a:cs typeface="Arial" pitchFamily="34" charset="-120"/>
              </a:rPr>
              <a:t>• Separate Footwear &amp; Plastic Bag: </a:t>
            </a:r>
            <a:pPr indent="0" marL="0">
              <a:lnSpc>
                <a:spcPct val="105000"/>
              </a:lnSpc>
              <a:buNone/>
            </a:pPr>
            <a:r>
              <a:rPr lang="en-US" sz="850" dirty="0">
                <a:solidFill>
                  <a:srgbClr val="334155"/>
                </a:solidFill>
                <a:latin typeface="Arial" pitchFamily="34" charset="0"/>
                <a:ea typeface="Arial" pitchFamily="34" charset="-122"/>
                <a:cs typeface="Arial" pitchFamily="34" charset="-120"/>
              </a:rPr>
              <a:t>Bring spare clean shoes/trainers + carrier bag for muddy boots.
</a:t>
            </a:r>
            <a:pPr indent="0" marL="0">
              <a:lnSpc>
                <a:spcPct val="105000"/>
              </a:lnSpc>
              <a:buNone/>
            </a:pPr>
            <a:r>
              <a:rPr lang="en-US" sz="850" b="1" dirty="0">
                <a:solidFill>
                  <a:srgbClr val="334155"/>
                </a:solidFill>
                <a:latin typeface="Arial" pitchFamily="34" charset="0"/>
                <a:ea typeface="Arial" pitchFamily="34" charset="-122"/>
                <a:cs typeface="Arial" pitchFamily="34" charset="-120"/>
              </a:rPr>
              <a:t>• Waterproof Raincoat: </a:t>
            </a:r>
            <a:pPr indent="0" marL="0">
              <a:lnSpc>
                <a:spcPct val="105000"/>
              </a:lnSpc>
              <a:buNone/>
            </a:pPr>
            <a:r>
              <a:rPr lang="en-US" sz="850" dirty="0">
                <a:solidFill>
                  <a:srgbClr val="334155"/>
                </a:solidFill>
                <a:latin typeface="Arial" pitchFamily="34" charset="0"/>
                <a:ea typeface="Arial" pitchFamily="34" charset="-122"/>
                <a:cs typeface="Arial" pitchFamily="34" charset="-120"/>
              </a:rPr>
              <a:t>Windproof with hood. We tour regardless of light rain.
</a:t>
            </a:r>
            <a:pPr indent="0" marL="0">
              <a:lnSpc>
                <a:spcPct val="105000"/>
              </a:lnSpc>
              <a:buNone/>
            </a:pPr>
            <a:r>
              <a:rPr lang="en-US" sz="850" b="1" dirty="0">
                <a:solidFill>
                  <a:srgbClr val="334155"/>
                </a:solidFill>
                <a:latin typeface="Arial" pitchFamily="34" charset="0"/>
                <a:ea typeface="Arial" pitchFamily="34" charset="-122"/>
                <a:cs typeface="Arial" pitchFamily="34" charset="-120"/>
              </a:rPr>
              <a:t>• Warm Fleece &amp; Layers: </a:t>
            </a:r>
            <a:pPr indent="0" marL="0">
              <a:lnSpc>
                <a:spcPct val="105000"/>
              </a:lnSpc>
              <a:buNone/>
            </a:pPr>
            <a:r>
              <a:rPr lang="en-US" sz="850" dirty="0">
                <a:solidFill>
                  <a:srgbClr val="334155"/>
                </a:solidFill>
                <a:latin typeface="Arial" pitchFamily="34" charset="0"/>
                <a:ea typeface="Arial" pitchFamily="34" charset="-122"/>
                <a:cs typeface="Arial" pitchFamily="34" charset="-120"/>
              </a:rPr>
              <a:t>Temperatures drop quickly on exposed ridges.
</a:t>
            </a:r>
            <a:pPr indent="0" marL="0">
              <a:lnSpc>
                <a:spcPct val="105000"/>
              </a:lnSpc>
              <a:buNone/>
            </a:pPr>
            <a:r>
              <a:rPr lang="en-US" sz="850" b="1" dirty="0">
                <a:solidFill>
                  <a:srgbClr val="334155"/>
                </a:solidFill>
                <a:latin typeface="Arial" pitchFamily="34" charset="0"/>
                <a:ea typeface="Arial" pitchFamily="34" charset="-122"/>
                <a:cs typeface="Arial" pitchFamily="34" charset="-120"/>
              </a:rPr>
              <a:t>• Hat &amp; Gloves: </a:t>
            </a:r>
            <a:pPr indent="0" marL="0">
              <a:lnSpc>
                <a:spcPct val="105000"/>
              </a:lnSpc>
              <a:buNone/>
            </a:pPr>
            <a:r>
              <a:rPr lang="en-US" sz="850" dirty="0">
                <a:solidFill>
                  <a:srgbClr val="334155"/>
                </a:solidFill>
                <a:latin typeface="Arial" pitchFamily="34" charset="0"/>
                <a:ea typeface="Arial" pitchFamily="34" charset="-122"/>
                <a:cs typeface="Arial" pitchFamily="34" charset="-120"/>
              </a:rPr>
              <a:t>Crucial for standing still during the 8:00 PM Menin Gate ceremony.</a:t>
            </a:r>
            <a:endParaRPr lang="en-US" sz="850" dirty="0"/>
          </a:p>
        </p:txBody>
      </p:sp>
      <p:sp>
        <p:nvSpPr>
          <p:cNvPr id="8" name="Shape 6"/>
          <p:cNvSpPr/>
          <p:nvPr/>
        </p:nvSpPr>
        <p:spPr>
          <a:xfrm>
            <a:off x="4663440" y="960120"/>
            <a:ext cx="3931920" cy="1783080"/>
          </a:xfrm>
          <a:prstGeom prst="roundRect">
            <a:avLst/>
          </a:prstGeom>
          <a:solidFill>
            <a:srgbClr val="FFFFFF"/>
          </a:solidFill>
          <a:ln w="12700">
            <a:solidFill>
              <a:srgbClr val="CBD5E1"/>
            </a:solidFill>
            <a:prstDash val="solid"/>
          </a:ln>
        </p:spPr>
      </p:sp>
      <p:sp>
        <p:nvSpPr>
          <p:cNvPr id="9" name="Text 7"/>
          <p:cNvSpPr/>
          <p:nvPr/>
        </p:nvSpPr>
        <p:spPr>
          <a:xfrm>
            <a:off x="4846320" y="1051560"/>
            <a:ext cx="3566160" cy="228600"/>
          </a:xfrm>
          <a:prstGeom prst="rect">
            <a:avLst/>
          </a:prstGeom>
          <a:noFill/>
          <a:ln/>
        </p:spPr>
        <p:txBody>
          <a:bodyPr wrap="square" rtlCol="0" anchor="ctr"/>
          <a:lstStyle/>
          <a:p>
            <a:pPr indent="0" marL="0">
              <a:buNone/>
            </a:pPr>
            <a:r>
              <a:rPr lang="en-US" sz="1100" b="1" dirty="0">
                <a:solidFill>
                  <a:srgbClr val="B45309"/>
                </a:solidFill>
                <a:latin typeface="Arial" pitchFamily="34" charset="0"/>
                <a:ea typeface="Arial" pitchFamily="34" charset="-122"/>
                <a:cs typeface="Arial" pitchFamily="34" charset="-120"/>
              </a:rPr>
              <a:t>🎒 LUGGAGE, TOWELS &amp; WASHBAG</a:t>
            </a:r>
            <a:endParaRPr lang="en-US" sz="1100" dirty="0"/>
          </a:p>
        </p:txBody>
      </p:sp>
      <p:sp>
        <p:nvSpPr>
          <p:cNvPr id="10" name="Text 8"/>
          <p:cNvSpPr/>
          <p:nvPr/>
        </p:nvSpPr>
        <p:spPr>
          <a:xfrm>
            <a:off x="4846320" y="1298448"/>
            <a:ext cx="3566160" cy="1325880"/>
          </a:xfrm>
          <a:prstGeom prst="rect">
            <a:avLst/>
          </a:prstGeom>
          <a:noFill/>
          <a:ln/>
        </p:spPr>
        <p:txBody>
          <a:bodyPr wrap="square" rtlCol="0" anchor="ctr"/>
          <a:lstStyle/>
          <a:p>
            <a:pPr indent="0" marL="0">
              <a:lnSpc>
                <a:spcPct val="105000"/>
              </a:lnSpc>
              <a:buNone/>
            </a:pPr>
            <a:r>
              <a:rPr lang="en-US" sz="850" b="1" dirty="0">
                <a:solidFill>
                  <a:srgbClr val="334155"/>
                </a:solidFill>
                <a:latin typeface="Arial" pitchFamily="34" charset="0"/>
                <a:ea typeface="Arial" pitchFamily="34" charset="-122"/>
                <a:cs typeface="Arial" pitchFamily="34" charset="-120"/>
              </a:rPr>
              <a:t>• TOWELS (Mandatory): </a:t>
            </a:r>
            <a:pPr indent="0" marL="0">
              <a:lnSpc>
                <a:spcPct val="105000"/>
              </a:lnSpc>
              <a:buNone/>
            </a:pPr>
            <a:r>
              <a:rPr lang="en-US" sz="850" dirty="0">
                <a:solidFill>
                  <a:srgbClr val="334155"/>
                </a:solidFill>
                <a:latin typeface="Arial" pitchFamily="34" charset="0"/>
                <a:ea typeface="Arial" pitchFamily="34" charset="-122"/>
                <a:cs typeface="Arial" pitchFamily="34" charset="-120"/>
              </a:rPr>
              <a:t>Pupils must bring their own bath/shower towel! (None provided).
</a:t>
            </a:r>
            <a:pPr indent="0" marL="0">
              <a:lnSpc>
                <a:spcPct val="105000"/>
              </a:lnSpc>
              <a:buNone/>
            </a:pPr>
            <a:r>
              <a:rPr lang="en-US" sz="850" b="1" dirty="0">
                <a:solidFill>
                  <a:srgbClr val="334155"/>
                </a:solidFill>
                <a:latin typeface="Arial" pitchFamily="34" charset="0"/>
                <a:ea typeface="Arial" pitchFamily="34" charset="-122"/>
                <a:cs typeface="Arial" pitchFamily="34" charset="-120"/>
              </a:rPr>
              <a:t>• Washbag &amp; Shower Gel: </a:t>
            </a:r>
            <a:pPr indent="0" marL="0">
              <a:lnSpc>
                <a:spcPct val="105000"/>
              </a:lnSpc>
              <a:buNone/>
            </a:pPr>
            <a:r>
              <a:rPr lang="en-US" sz="850" dirty="0">
                <a:solidFill>
                  <a:srgbClr val="334155"/>
                </a:solidFill>
                <a:latin typeface="Arial" pitchFamily="34" charset="0"/>
                <a:ea typeface="Arial" pitchFamily="34" charset="-122"/>
                <a:cs typeface="Arial" pitchFamily="34" charset="-120"/>
              </a:rPr>
              <a:t>Shower gel, shampoo, toothbrush, roll-on deodorant (no aerosols).
</a:t>
            </a:r>
            <a:pPr indent="0" marL="0">
              <a:lnSpc>
                <a:spcPct val="105000"/>
              </a:lnSpc>
              <a:buNone/>
            </a:pPr>
            <a:r>
              <a:rPr lang="en-US" sz="850" b="1" dirty="0">
                <a:solidFill>
                  <a:srgbClr val="334155"/>
                </a:solidFill>
                <a:latin typeface="Arial" pitchFamily="34" charset="0"/>
                <a:ea typeface="Arial" pitchFamily="34" charset="-122"/>
                <a:cs typeface="Arial" pitchFamily="34" charset="-120"/>
              </a:rPr>
              <a:t>• 1 Main Holdall / Case: </a:t>
            </a:r>
            <a:pPr indent="0" marL="0">
              <a:lnSpc>
                <a:spcPct val="105000"/>
              </a:lnSpc>
              <a:buNone/>
            </a:pPr>
            <a:r>
              <a:rPr lang="en-US" sz="850" dirty="0">
                <a:solidFill>
                  <a:srgbClr val="334155"/>
                </a:solidFill>
                <a:latin typeface="Arial" pitchFamily="34" charset="0"/>
                <a:ea typeface="Arial" pitchFamily="34" charset="-122"/>
                <a:cs typeface="Arial" pitchFamily="34" charset="-120"/>
              </a:rPr>
              <a:t>Goes underneath in coach hold until arrival at hostel (max 15kg).
</a:t>
            </a:r>
            <a:pPr indent="0" marL="0">
              <a:lnSpc>
                <a:spcPct val="105000"/>
              </a:lnSpc>
              <a:buNone/>
            </a:pPr>
            <a:r>
              <a:rPr lang="en-US" sz="850" b="1" dirty="0">
                <a:solidFill>
                  <a:srgbClr val="334155"/>
                </a:solidFill>
                <a:latin typeface="Arial" pitchFamily="34" charset="0"/>
                <a:ea typeface="Arial" pitchFamily="34" charset="-122"/>
                <a:cs typeface="Arial" pitchFamily="34" charset="-120"/>
              </a:rPr>
              <a:t>• 1 Small Daypack: </a:t>
            </a:r>
            <a:pPr indent="0" marL="0">
              <a:lnSpc>
                <a:spcPct val="105000"/>
              </a:lnSpc>
              <a:buNone/>
            </a:pPr>
            <a:r>
              <a:rPr lang="en-US" sz="850" dirty="0">
                <a:solidFill>
                  <a:srgbClr val="334155"/>
                </a:solidFill>
                <a:latin typeface="Arial" pitchFamily="34" charset="0"/>
                <a:ea typeface="Arial" pitchFamily="34" charset="-122"/>
                <a:cs typeface="Arial" pitchFamily="34" charset="-120"/>
              </a:rPr>
              <a:t>Stays on coach. Holds waterproofs, plastic bag, packed lunch &amp; water.
</a:t>
            </a:r>
            <a:pPr indent="0" marL="0">
              <a:lnSpc>
                <a:spcPct val="105000"/>
              </a:lnSpc>
              <a:buNone/>
            </a:pPr>
            <a:r>
              <a:rPr lang="en-US" sz="850" b="1" dirty="0">
                <a:solidFill>
                  <a:srgbClr val="334155"/>
                </a:solidFill>
                <a:latin typeface="Arial" pitchFamily="34" charset="0"/>
                <a:ea typeface="Arial" pitchFamily="34" charset="-122"/>
                <a:cs typeface="Arial" pitchFamily="34" charset="-120"/>
              </a:rPr>
              <a:t>• Casual Clothes: </a:t>
            </a:r>
            <a:pPr indent="0" marL="0">
              <a:lnSpc>
                <a:spcPct val="105000"/>
              </a:lnSpc>
              <a:buNone/>
            </a:pPr>
            <a:r>
              <a:rPr lang="en-US" sz="850" dirty="0">
                <a:solidFill>
                  <a:srgbClr val="334155"/>
                </a:solidFill>
                <a:latin typeface="Arial" pitchFamily="34" charset="0"/>
                <a:ea typeface="Arial" pitchFamily="34" charset="-122"/>
                <a:cs typeface="Arial" pitchFamily="34" charset="-120"/>
              </a:rPr>
              <a:t>Comfortable clothing for downtime at hostel. No restaurant wear.</a:t>
            </a:r>
            <a:endParaRPr lang="en-US" sz="850" dirty="0"/>
          </a:p>
        </p:txBody>
      </p:sp>
      <p:sp>
        <p:nvSpPr>
          <p:cNvPr id="11" name="Shape 9"/>
          <p:cNvSpPr/>
          <p:nvPr/>
        </p:nvSpPr>
        <p:spPr>
          <a:xfrm>
            <a:off x="548640" y="2880360"/>
            <a:ext cx="3931920" cy="1783080"/>
          </a:xfrm>
          <a:prstGeom prst="roundRect">
            <a:avLst/>
          </a:prstGeom>
          <a:solidFill>
            <a:srgbClr val="FFFFFF"/>
          </a:solidFill>
          <a:ln w="12700">
            <a:solidFill>
              <a:srgbClr val="CBD5E1"/>
            </a:solidFill>
            <a:prstDash val="solid"/>
          </a:ln>
        </p:spPr>
      </p:sp>
      <p:sp>
        <p:nvSpPr>
          <p:cNvPr id="12" name="Text 10"/>
          <p:cNvSpPr/>
          <p:nvPr/>
        </p:nvSpPr>
        <p:spPr>
          <a:xfrm>
            <a:off x="731520" y="2971800"/>
            <a:ext cx="3566160" cy="228600"/>
          </a:xfrm>
          <a:prstGeom prst="rect">
            <a:avLst/>
          </a:prstGeom>
          <a:noFill/>
          <a:ln/>
        </p:spPr>
        <p:txBody>
          <a:bodyPr wrap="square" rtlCol="0" anchor="ctr"/>
          <a:lstStyle/>
          <a:p>
            <a:pPr indent="0" marL="0">
              <a:buNone/>
            </a:pPr>
            <a:r>
              <a:rPr lang="en-US" sz="1100" b="1" dirty="0">
                <a:solidFill>
                  <a:srgbClr val="15803D"/>
                </a:solidFill>
                <a:latin typeface="Arial" pitchFamily="34" charset="0"/>
                <a:ea typeface="Arial" pitchFamily="34" charset="-122"/>
                <a:cs typeface="Arial" pitchFamily="34" charset="-120"/>
              </a:rPr>
              <a:t>📄 DOCUMENTS, HEALTH &amp; ELECTRONICS</a:t>
            </a:r>
            <a:endParaRPr lang="en-US" sz="1100" dirty="0"/>
          </a:p>
        </p:txBody>
      </p:sp>
      <p:sp>
        <p:nvSpPr>
          <p:cNvPr id="13" name="Text 11"/>
          <p:cNvSpPr/>
          <p:nvPr/>
        </p:nvSpPr>
        <p:spPr>
          <a:xfrm>
            <a:off x="731520" y="3182112"/>
            <a:ext cx="3566160" cy="1371600"/>
          </a:xfrm>
          <a:prstGeom prst="rect">
            <a:avLst/>
          </a:prstGeom>
          <a:noFill/>
          <a:ln/>
        </p:spPr>
        <p:txBody>
          <a:bodyPr wrap="square" rtlCol="0" anchor="ctr"/>
          <a:lstStyle/>
          <a:p>
            <a:pPr indent="0" marL="0">
              <a:lnSpc>
                <a:spcPct val="104000"/>
              </a:lnSpc>
              <a:buNone/>
            </a:pPr>
            <a:r>
              <a:rPr lang="en-US" sz="820" b="1" dirty="0">
                <a:solidFill>
                  <a:srgbClr val="334155"/>
                </a:solidFill>
                <a:latin typeface="Arial" pitchFamily="34" charset="0"/>
                <a:ea typeface="Arial" pitchFamily="34" charset="-122"/>
                <a:cs typeface="Arial" pitchFamily="34" charset="-120"/>
              </a:rPr>
              <a:t>• Valid UK Passport &amp; GHIC/EHIC: </a:t>
            </a:r>
            <a:pPr indent="0" marL="0">
              <a:lnSpc>
                <a:spcPct val="104000"/>
              </a:lnSpc>
              <a:buNone/>
            </a:pPr>
            <a:r>
              <a:rPr lang="en-US" sz="820" dirty="0">
                <a:solidFill>
                  <a:srgbClr val="334155"/>
                </a:solidFill>
                <a:latin typeface="Arial" pitchFamily="34" charset="0"/>
                <a:ea typeface="Arial" pitchFamily="34" charset="-122"/>
                <a:cs typeface="Arial" pitchFamily="34" charset="-120"/>
              </a:rPr>
              <a:t>Collected in advance tonight at briefing by Department Lead!
</a:t>
            </a:r>
            <a:pPr indent="0" marL="0">
              <a:lnSpc>
                <a:spcPct val="104000"/>
              </a:lnSpc>
              <a:buNone/>
            </a:pPr>
            <a:r>
              <a:rPr lang="en-US" sz="820" b="1" dirty="0">
                <a:solidFill>
                  <a:srgbClr val="334155"/>
                </a:solidFill>
                <a:latin typeface="Arial" pitchFamily="34" charset="0"/>
                <a:ea typeface="Arial" pitchFamily="34" charset="-122"/>
                <a:cs typeface="Arial" pitchFamily="34" charset="-120"/>
              </a:rPr>
              <a:t>• Medication Forms &amp; Rules: </a:t>
            </a:r>
            <a:pPr indent="0" marL="0">
              <a:lnSpc>
                <a:spcPct val="104000"/>
              </a:lnSpc>
              <a:buNone/>
            </a:pPr>
            <a:r>
              <a:rPr lang="en-US" sz="820" dirty="0">
                <a:solidFill>
                  <a:srgbClr val="334155"/>
                </a:solidFill>
                <a:latin typeface="Arial" pitchFamily="34" charset="0"/>
                <a:ea typeface="Arial" pitchFamily="34" charset="-122"/>
                <a:cs typeface="Arial" pitchFamily="34" charset="-120"/>
              </a:rPr>
              <a:t>Forms distributed tonight. All meds in original packaging; prescribed items must show child's name.
</a:t>
            </a:r>
            <a:pPr indent="0" marL="0">
              <a:lnSpc>
                <a:spcPct val="104000"/>
              </a:lnSpc>
              <a:buNone/>
            </a:pPr>
            <a:r>
              <a:rPr lang="en-US" sz="820" b="1" dirty="0">
                <a:solidFill>
                  <a:srgbClr val="334155"/>
                </a:solidFill>
                <a:latin typeface="Arial" pitchFamily="34" charset="0"/>
                <a:ea typeface="Arial" pitchFamily="34" charset="-122"/>
                <a:cs typeface="Arial" pitchFamily="34" charset="-120"/>
              </a:rPr>
              <a:t>• Trip WhatsApp Broadcast Group: </a:t>
            </a:r>
            <a:pPr indent="0" marL="0">
              <a:lnSpc>
                <a:spcPct val="104000"/>
              </a:lnSpc>
              <a:buNone/>
            </a:pPr>
            <a:r>
              <a:rPr lang="en-US" sz="820" dirty="0">
                <a:solidFill>
                  <a:srgbClr val="334155"/>
                </a:solidFill>
                <a:latin typeface="Arial" pitchFamily="34" charset="0"/>
                <a:ea typeface="Arial" pitchFamily="34" charset="-122"/>
                <a:cs typeface="Arial" pitchFamily="34" charset="-120"/>
              </a:rPr>
              <a:t>Closed group via QR link tonight for live tour updates &amp; visit photos (reactions welcome, no chat). Photo consent checked for all pupils.
</a:t>
            </a:r>
            <a:pPr indent="0" marL="0">
              <a:lnSpc>
                <a:spcPct val="104000"/>
              </a:lnSpc>
              <a:buNone/>
            </a:pPr>
            <a:r>
              <a:rPr lang="en-US" sz="820" b="1" dirty="0">
                <a:solidFill>
                  <a:srgbClr val="334155"/>
                </a:solidFill>
                <a:latin typeface="Arial" pitchFamily="34" charset="0"/>
                <a:ea typeface="Arial" pitchFamily="34" charset="-122"/>
                <a:cs typeface="Arial" pitchFamily="34" charset="-120"/>
              </a:rPr>
              <a:t>• Adapter &amp; Phone Policy: </a:t>
            </a:r>
            <a:pPr indent="0" marL="0">
              <a:lnSpc>
                <a:spcPct val="104000"/>
              </a:lnSpc>
              <a:buNone/>
            </a:pPr>
            <a:r>
              <a:rPr lang="en-US" sz="820" dirty="0">
                <a:solidFill>
                  <a:srgbClr val="334155"/>
                </a:solidFill>
                <a:latin typeface="Arial" pitchFamily="34" charset="0"/>
                <a:ea typeface="Arial" pitchFamily="34" charset="-122"/>
                <a:cs typeface="Arial" pitchFamily="34" charset="-120"/>
              </a:rPr>
              <a:t>EU 2-pin adapter. Phones collected in staff bag each evening at curfew.</a:t>
            </a:r>
            <a:endParaRPr lang="en-US" sz="820" dirty="0"/>
          </a:p>
        </p:txBody>
      </p:sp>
      <p:sp>
        <p:nvSpPr>
          <p:cNvPr id="14" name="Shape 12"/>
          <p:cNvSpPr/>
          <p:nvPr/>
        </p:nvSpPr>
        <p:spPr>
          <a:xfrm>
            <a:off x="4663440" y="2880360"/>
            <a:ext cx="3931920" cy="1783080"/>
          </a:xfrm>
          <a:prstGeom prst="roundRect">
            <a:avLst/>
          </a:prstGeom>
          <a:solidFill>
            <a:srgbClr val="FFFFFF"/>
          </a:solidFill>
          <a:ln w="12700">
            <a:solidFill>
              <a:srgbClr val="CBD5E1"/>
            </a:solidFill>
            <a:prstDash val="solid"/>
          </a:ln>
        </p:spPr>
      </p:sp>
      <p:sp>
        <p:nvSpPr>
          <p:cNvPr id="15" name="Text 13"/>
          <p:cNvSpPr/>
          <p:nvPr/>
        </p:nvSpPr>
        <p:spPr>
          <a:xfrm>
            <a:off x="4846320" y="2971800"/>
            <a:ext cx="3566160" cy="22860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CATERING, MONEY &amp; NEXT DATES</a:t>
            </a:r>
            <a:endParaRPr lang="en-US" sz="1100" dirty="0"/>
          </a:p>
        </p:txBody>
      </p:sp>
      <p:sp>
        <p:nvSpPr>
          <p:cNvPr id="16" name="Text 14"/>
          <p:cNvSpPr/>
          <p:nvPr/>
        </p:nvSpPr>
        <p:spPr>
          <a:xfrm>
            <a:off x="4846320" y="3218688"/>
            <a:ext cx="3566160" cy="1325880"/>
          </a:xfrm>
          <a:prstGeom prst="rect">
            <a:avLst/>
          </a:prstGeom>
          <a:noFill/>
          <a:ln/>
        </p:spPr>
        <p:txBody>
          <a:bodyPr wrap="square" rtlCol="0" anchor="ctr"/>
          <a:lstStyle/>
          <a:p>
            <a:pPr indent="0" marL="0">
              <a:lnSpc>
                <a:spcPct val="108000"/>
              </a:lnSpc>
              <a:buNone/>
            </a:pPr>
            <a:r>
              <a:rPr lang="en-US" sz="900" b="1" dirty="0">
                <a:solidFill>
                  <a:srgbClr val="334155"/>
                </a:solidFill>
                <a:latin typeface="Arial" pitchFamily="34" charset="0"/>
                <a:ea typeface="Arial" pitchFamily="34" charset="-122"/>
                <a:cs typeface="Arial" pitchFamily="34" charset="-120"/>
              </a:rPr>
              <a:t>• Thursday Packed Lunch: </a:t>
            </a:r>
            <a:pPr indent="0" marL="0">
              <a:lnSpc>
                <a:spcPct val="108000"/>
              </a:lnSpc>
              <a:buNone/>
            </a:pPr>
            <a:r>
              <a:rPr lang="en-US" sz="900" dirty="0">
                <a:solidFill>
                  <a:srgbClr val="334155"/>
                </a:solidFill>
                <a:latin typeface="Arial" pitchFamily="34" charset="0"/>
                <a:ea typeface="Arial" pitchFamily="34" charset="-122"/>
                <a:cs typeface="Arial" pitchFamily="34" charset="-120"/>
              </a:rPr>
              <a:t>Bring from home with disposable drinks/snacks.
</a:t>
            </a:r>
            <a:pPr indent="0" marL="0">
              <a:lnSpc>
                <a:spcPct val="108000"/>
              </a:lnSpc>
              <a:buNone/>
            </a:pPr>
            <a:r>
              <a:rPr lang="en-US" sz="900" b="1" dirty="0">
                <a:solidFill>
                  <a:srgbClr val="334155"/>
                </a:solidFill>
                <a:latin typeface="Arial" pitchFamily="34" charset="0"/>
                <a:ea typeface="Arial" pitchFamily="34" charset="-122"/>
                <a:cs typeface="Arial" pitchFamily="34" charset="-120"/>
              </a:rPr>
              <a:t>• Spending Money: </a:t>
            </a:r>
            <a:pPr indent="0" marL="0">
              <a:lnSpc>
                <a:spcPct val="108000"/>
              </a:lnSpc>
              <a:buNone/>
            </a:pPr>
            <a:r>
              <a:rPr lang="en-US" sz="900" dirty="0">
                <a:solidFill>
                  <a:srgbClr val="334155"/>
                </a:solidFill>
                <a:latin typeface="Arial" pitchFamily="34" charset="0"/>
                <a:ea typeface="Arial" pitchFamily="34" charset="-122"/>
                <a:cs typeface="Arial" pitchFamily="34" charset="-120"/>
              </a:rPr>
              <a:t>€30–€40 in cash for Friday &amp; Saturday supermarket lunches &amp; souvenirs.
</a:t>
            </a:r>
            <a:pPr indent="0" marL="0">
              <a:lnSpc>
                <a:spcPct val="108000"/>
              </a:lnSpc>
              <a:buNone/>
            </a:pPr>
            <a:r>
              <a:rPr lang="en-US" sz="900" b="1" dirty="0">
                <a:solidFill>
                  <a:srgbClr val="334155"/>
                </a:solidFill>
                <a:latin typeface="Arial" pitchFamily="34" charset="0"/>
                <a:ea typeface="Arial" pitchFamily="34" charset="-122"/>
                <a:cs typeface="Arial" pitchFamily="34" charset="-120"/>
              </a:rPr>
              <a:t>• Accommodation &amp; Rooming: </a:t>
            </a:r>
            <a:pPr indent="0" marL="0">
              <a:lnSpc>
                <a:spcPct val="108000"/>
              </a:lnSpc>
              <a:buNone/>
            </a:pPr>
            <a:r>
              <a:rPr lang="en-US" sz="900" dirty="0">
                <a:solidFill>
                  <a:srgbClr val="334155"/>
                </a:solidFill>
                <a:latin typeface="Arial" pitchFamily="34" charset="0"/>
                <a:ea typeface="Arial" pitchFamily="34" charset="-122"/>
                <a:cs typeface="Arial" pitchFamily="34" charset="-120"/>
              </a:rPr>
              <a:t>Peace Village Hostel (4-7 bunks). Rooming &amp; dietary preferences (e.g. vegetarian) gathered in ~2 weeks.
</a:t>
            </a:r>
            <a:pPr indent="0" marL="0">
              <a:lnSpc>
                <a:spcPct val="108000"/>
              </a:lnSpc>
              <a:buNone/>
            </a:pPr>
            <a:r>
              <a:rPr lang="en-US" sz="900" b="1" dirty="0">
                <a:solidFill>
                  <a:srgbClr val="334155"/>
                </a:solidFill>
                <a:latin typeface="Arial" pitchFamily="34" charset="0"/>
                <a:ea typeface="Arial" pitchFamily="34" charset="-122"/>
                <a:cs typeface="Arial" pitchFamily="34" charset="-120"/>
              </a:rPr>
              <a:t>• Forms Return Deadline: </a:t>
            </a:r>
            <a:pPr indent="0" marL="0">
              <a:lnSpc>
                <a:spcPct val="108000"/>
              </a:lnSpc>
              <a:buNone/>
            </a:pPr>
            <a:r>
              <a:rPr lang="en-US" sz="900" dirty="0">
                <a:solidFill>
                  <a:srgbClr val="334155"/>
                </a:solidFill>
                <a:latin typeface="Arial" pitchFamily="34" charset="0"/>
                <a:ea typeface="Arial" pitchFamily="34" charset="-122"/>
                <a:cs typeface="Arial" pitchFamily="34" charset="-120"/>
              </a:rPr>
              <a:t>Code of Conduct Agreement due Friday 25th September.</a:t>
            </a:r>
            <a:endParaRPr lang="en-US" sz="900" dirty="0"/>
          </a:p>
        </p:txBody>
      </p:sp>
      <p:sp>
        <p:nvSpPr>
          <p:cNvPr id="17" name="Text 15"/>
          <p:cNvSpPr/>
          <p:nvPr/>
        </p:nvSpPr>
        <p:spPr>
          <a:xfrm>
            <a:off x="457200" y="4800600"/>
            <a:ext cx="8229600" cy="228600"/>
          </a:xfrm>
          <a:prstGeom prst="rect">
            <a:avLst/>
          </a:prstGeom>
          <a:noFill/>
          <a:ln/>
        </p:spPr>
        <p:txBody>
          <a:bodyPr wrap="square" rtlCol="0" anchor="ctr"/>
          <a:lstStyle/>
          <a:p>
            <a:pPr algn="ctr" indent="0" marL="0">
              <a:buNone/>
            </a:pPr>
            <a:r>
              <a:rPr lang="en-US" sz="850" b="1" dirty="0">
                <a:solidFill>
                  <a:srgbClr val="DC2626"/>
                </a:solidFill>
                <a:latin typeface="Arial" pitchFamily="34" charset="0"/>
                <a:ea typeface="Arial" pitchFamily="34" charset="-122"/>
                <a:cs typeface="Arial" pitchFamily="34" charset="-120"/>
              </a:rPr>
              <a:t>🚨 24/7 Dedicated Trip Mobile: 07825 297749 (For emergencies &amp; calls from staff; parents must remain contactable 24/7) · Base: 01329 662182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37160"/>
            <a:ext cx="8046720" cy="320040"/>
          </a:xfrm>
          <a:prstGeom prst="rect">
            <a:avLst/>
          </a:prstGeom>
          <a:noFill/>
          <a:ln/>
        </p:spPr>
        <p:txBody>
          <a:bodyPr wrap="square" rtlCol="0" anchor="ctr"/>
          <a:lstStyle/>
          <a:p>
            <a:pPr indent="0" marL="0">
              <a:buNone/>
            </a:pPr>
            <a:r>
              <a:rPr lang="en-US" sz="1600" b="1" dirty="0">
                <a:solidFill>
                  <a:srgbClr val="F1F5F9"/>
                </a:solidFill>
                <a:latin typeface="Georgia" pitchFamily="34" charset="0"/>
                <a:ea typeface="Georgia" pitchFamily="34" charset="-122"/>
                <a:cs typeface="Georgia" pitchFamily="34" charset="-120"/>
              </a:rPr>
              <a:t>LOCAL HERITAGE: TRACING OUR VILLAGE FALLEN</a:t>
            </a:r>
            <a:endParaRPr lang="en-US" sz="1600" dirty="0"/>
          </a:p>
        </p:txBody>
      </p:sp>
      <p:sp>
        <p:nvSpPr>
          <p:cNvPr id="4" name="Text 2"/>
          <p:cNvSpPr/>
          <p:nvPr/>
        </p:nvSpPr>
        <p:spPr>
          <a:xfrm>
            <a:off x="548640" y="457200"/>
            <a:ext cx="8046720" cy="22860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From Holy Rood Church and the Stubbington Lychgate to the Memorial Walls of Flanders</a:t>
            </a:r>
            <a:endParaRPr lang="en-US" sz="1000" dirty="0"/>
          </a:p>
        </p:txBody>
      </p:sp>
      <p:sp>
        <p:nvSpPr>
          <p:cNvPr id="5" name="Shape 3"/>
          <p:cNvSpPr/>
          <p:nvPr/>
        </p:nvSpPr>
        <p:spPr>
          <a:xfrm>
            <a:off x="548640" y="1005840"/>
            <a:ext cx="4389120" cy="3657600"/>
          </a:xfrm>
          <a:prstGeom prst="roundRect">
            <a:avLst/>
          </a:prstGeom>
          <a:solidFill>
            <a:srgbClr val="FFFFFF"/>
          </a:solidFill>
          <a:ln w="12700">
            <a:solidFill>
              <a:srgbClr val="CBD5E1"/>
            </a:solidFill>
            <a:prstDash val="solid"/>
          </a:ln>
        </p:spPr>
      </p:sp>
      <p:sp>
        <p:nvSpPr>
          <p:cNvPr id="6" name="Text 4"/>
          <p:cNvSpPr/>
          <p:nvPr/>
        </p:nvSpPr>
        <p:spPr>
          <a:xfrm>
            <a:off x="731520" y="1143000"/>
            <a:ext cx="4023360" cy="274320"/>
          </a:xfrm>
          <a:prstGeom prst="rect">
            <a:avLst/>
          </a:prstGeom>
          <a:noFill/>
          <a:ln/>
        </p:spPr>
        <p:txBody>
          <a:bodyPr wrap="square" rtlCol="0" anchor="ctr"/>
          <a:lstStyle/>
          <a:p>
            <a:pPr indent="0" marL="0">
              <a:buNone/>
            </a:pPr>
            <a:r>
              <a:rPr lang="en-US" sz="1200" b="1" dirty="0">
                <a:solidFill>
                  <a:srgbClr val="1E3A8A"/>
                </a:solidFill>
                <a:latin typeface="Georgia" pitchFamily="34" charset="0"/>
                <a:ea typeface="Georgia" pitchFamily="34" charset="-122"/>
                <a:cs typeface="Georgia" pitchFamily="34" charset="-120"/>
              </a:rPr>
              <a:t>THE LOWRY BROTHERS: A FAMILY SACRIFICE</a:t>
            </a:r>
            <a:endParaRPr lang="en-US" sz="1200" dirty="0"/>
          </a:p>
        </p:txBody>
      </p:sp>
      <p:sp>
        <p:nvSpPr>
          <p:cNvPr id="7" name="Text 5"/>
          <p:cNvSpPr/>
          <p:nvPr/>
        </p:nvSpPr>
        <p:spPr>
          <a:xfrm>
            <a:off x="731520" y="1463040"/>
            <a:ext cx="4023360" cy="3017520"/>
          </a:xfrm>
          <a:prstGeom prst="rect">
            <a:avLst/>
          </a:prstGeom>
          <a:noFill/>
          <a:ln/>
        </p:spPr>
        <p:txBody>
          <a:bodyPr wrap="square" rtlCol="0" anchor="ctr"/>
          <a:lstStyle/>
          <a:p>
            <a:pPr indent="0" marL="0">
              <a:lnSpc>
                <a:spcPct val="110000"/>
              </a:lnSpc>
              <a:buNone/>
            </a:pPr>
            <a:r>
              <a:rPr lang="en-US" sz="950" dirty="0">
                <a:solidFill>
                  <a:srgbClr val="334155"/>
                </a:solidFill>
                <a:latin typeface="Arial" pitchFamily="34" charset="0"/>
                <a:ea typeface="Arial" pitchFamily="34" charset="-122"/>
                <a:cs typeface="Arial" pitchFamily="34" charset="-120"/>
              </a:rPr>
              <a:t>Three brothers from Manor Way Grange in Lee-on-the-Solent, all carved side-by-side on the Stubbington war memorial:
</a:t>
            </a:r>
            <a:pPr indent="0" marL="0">
              <a:lnSpc>
                <a:spcPct val="110000"/>
              </a:lnSpc>
              <a:buNone/>
            </a:pPr>
            <a:r>
              <a:rPr lang="en-US" sz="950" b="1" dirty="0">
                <a:solidFill>
                  <a:srgbClr val="0F172A"/>
                </a:solidFill>
                <a:latin typeface="Arial" pitchFamily="34" charset="0"/>
                <a:ea typeface="Arial" pitchFamily="34" charset="-122"/>
                <a:cs typeface="Arial" pitchFamily="34" charset="-120"/>
              </a:rPr>
              <a:t>• 2nd Lt William "Harper" Lowry (25): </a:t>
            </a:r>
            <a:pPr indent="0" marL="0">
              <a:lnSpc>
                <a:spcPct val="110000"/>
              </a:lnSpc>
              <a:buNone/>
            </a:pPr>
            <a:r>
              <a:rPr lang="en-US" sz="950" dirty="0">
                <a:solidFill>
                  <a:srgbClr val="334155"/>
                </a:solidFill>
                <a:latin typeface="Arial" pitchFamily="34" charset="0"/>
                <a:ea typeface="Arial" pitchFamily="34" charset="-122"/>
                <a:cs typeface="Arial" pitchFamily="34" charset="-120"/>
              </a:rPr>
              <a:t>Fell 4 June 1915 at Gully Ravine (Gallipoli). Commemorated on Helles Memorial.
</a:t>
            </a:r>
            <a:pPr indent="0" marL="0">
              <a:lnSpc>
                <a:spcPct val="110000"/>
              </a:lnSpc>
              <a:buNone/>
            </a:pPr>
            <a:r>
              <a:rPr lang="en-US" sz="950" b="1" dirty="0">
                <a:solidFill>
                  <a:srgbClr val="0F172A"/>
                </a:solidFill>
                <a:latin typeface="Arial" pitchFamily="34" charset="0"/>
                <a:ea typeface="Arial" pitchFamily="34" charset="-122"/>
                <a:cs typeface="Arial" pitchFamily="34" charset="-120"/>
              </a:rPr>
              <a:t>• Capt Cyril "Patrick" Lowry (20): </a:t>
            </a:r>
            <a:pPr indent="0" marL="0">
              <a:lnSpc>
                <a:spcPct val="110000"/>
              </a:lnSpc>
              <a:buNone/>
            </a:pPr>
            <a:r>
              <a:rPr lang="en-US" sz="950" dirty="0">
                <a:solidFill>
                  <a:srgbClr val="334155"/>
                </a:solidFill>
                <a:latin typeface="Arial" pitchFamily="34" charset="0"/>
                <a:ea typeface="Arial" pitchFamily="34" charset="-122"/>
                <a:cs typeface="Arial" pitchFamily="34" charset="-120"/>
              </a:rPr>
              <a:t>Fell 25 March 1918 defending the Somme crossings. Pozières Memorial.
</a:t>
            </a:r>
            <a:pPr indent="0" marL="0">
              <a:lnSpc>
                <a:spcPct val="110000"/>
              </a:lnSpc>
              <a:buNone/>
            </a:pPr>
            <a:r>
              <a:rPr lang="en-US" sz="950" b="1" dirty="0">
                <a:solidFill>
                  <a:srgbClr val="0F172A"/>
                </a:solidFill>
                <a:latin typeface="Arial" pitchFamily="34" charset="0"/>
                <a:ea typeface="Arial" pitchFamily="34" charset="-122"/>
                <a:cs typeface="Arial" pitchFamily="34" charset="-120"/>
              </a:rPr>
              <a:t>• Lt Col Auriol "Eric" Lowry, DSO, MC (25): </a:t>
            </a:r>
            <a:pPr indent="0" marL="0">
              <a:lnSpc>
                <a:spcPct val="110000"/>
              </a:lnSpc>
              <a:buNone/>
            </a:pPr>
            <a:r>
              <a:rPr lang="en-US" sz="950" dirty="0">
                <a:solidFill>
                  <a:srgbClr val="334155"/>
                </a:solidFill>
                <a:latin typeface="Arial" pitchFamily="34" charset="0"/>
                <a:ea typeface="Arial" pitchFamily="34" charset="-122"/>
                <a:cs typeface="Arial" pitchFamily="34" charset="-120"/>
              </a:rPr>
              <a:t>Commanded 2nd West Yorkshires, fought at Westhoek Ridge near Ypres. Fell 23 September 1918.
</a:t>
            </a:r>
            <a:pPr indent="0" marL="0">
              <a:lnSpc>
                <a:spcPct val="110000"/>
              </a:lnSpc>
              <a:buNone/>
            </a:pPr>
            <a:r>
              <a:rPr lang="en-US" sz="950" b="1" dirty="0">
                <a:solidFill>
                  <a:srgbClr val="B45309"/>
                </a:solidFill>
                <a:latin typeface="Arial" pitchFamily="34" charset="0"/>
                <a:ea typeface="Arial" pitchFamily="34" charset="-122"/>
                <a:cs typeface="Arial" pitchFamily="34" charset="-120"/>
              </a:rPr>
              <a:t>The Key Question We Ask Our Pupils:
</a:t>
            </a:r>
            <a:pPr indent="0" marL="0">
              <a:lnSpc>
                <a:spcPct val="110000"/>
              </a:lnSpc>
              <a:buNone/>
            </a:pPr>
            <a:r>
              <a:rPr lang="en-US" sz="950" i="1" dirty="0">
                <a:solidFill>
                  <a:srgbClr val="334155"/>
                </a:solidFill>
                <a:latin typeface="Arial" pitchFamily="34" charset="0"/>
                <a:ea typeface="Arial" pitchFamily="34" charset="-122"/>
                <a:cs typeface="Arial" pitchFamily="34" charset="-120"/>
              </a:rPr>
              <a:t>"How did three sons from one coastal Hampshire family answer the call across Gallipoli, Arras, and the Somme—and how did six young men from our quiet village come to rest upon the ramparts and mud of Flanders?"</a:t>
            </a:r>
            <a:endParaRPr lang="en-US" sz="950" dirty="0"/>
          </a:p>
        </p:txBody>
      </p:sp>
      <p:sp>
        <p:nvSpPr>
          <p:cNvPr id="8" name="Shape 6"/>
          <p:cNvSpPr/>
          <p:nvPr/>
        </p:nvSpPr>
        <p:spPr>
          <a:xfrm>
            <a:off x="5120640" y="1005840"/>
            <a:ext cx="3474720" cy="3657600"/>
          </a:xfrm>
          <a:prstGeom prst="roundRect">
            <a:avLst/>
          </a:prstGeom>
          <a:solidFill>
            <a:srgbClr val="FFFFFF"/>
          </a:solidFill>
          <a:ln w="12700">
            <a:solidFill>
              <a:srgbClr val="CBD5E1"/>
            </a:solidFill>
            <a:prstDash val="solid"/>
          </a:ln>
        </p:spPr>
      </p:sp>
      <p:sp>
        <p:nvSpPr>
          <p:cNvPr id="9" name="Text 7"/>
          <p:cNvSpPr/>
          <p:nvPr/>
        </p:nvSpPr>
        <p:spPr>
          <a:xfrm>
            <a:off x="5303520" y="1143000"/>
            <a:ext cx="3108960" cy="274320"/>
          </a:xfrm>
          <a:prstGeom prst="rect">
            <a:avLst/>
          </a:prstGeom>
          <a:noFill/>
          <a:ln/>
        </p:spPr>
        <p:txBody>
          <a:bodyPr wrap="square" rtlCol="0" anchor="ctr"/>
          <a:lstStyle/>
          <a:p>
            <a:pPr indent="0" marL="0">
              <a:buNone/>
            </a:pPr>
            <a:r>
              <a:rPr lang="en-US" sz="1200" b="1" dirty="0">
                <a:solidFill>
                  <a:srgbClr val="15803D"/>
                </a:solidFill>
                <a:latin typeface="Georgia" pitchFamily="34" charset="0"/>
                <a:ea typeface="Georgia" pitchFamily="34" charset="-122"/>
                <a:cs typeface="Georgia" pitchFamily="34" charset="-120"/>
              </a:rPr>
              <a:t>ON-SITE FIELD INVESTIGATIONS</a:t>
            </a:r>
            <a:endParaRPr lang="en-US" sz="1200" dirty="0"/>
          </a:p>
        </p:txBody>
      </p:sp>
      <p:sp>
        <p:nvSpPr>
          <p:cNvPr id="10" name="Text 8"/>
          <p:cNvSpPr/>
          <p:nvPr/>
        </p:nvSpPr>
        <p:spPr>
          <a:xfrm>
            <a:off x="5303520" y="1463040"/>
            <a:ext cx="3108960" cy="3017520"/>
          </a:xfrm>
          <a:prstGeom prst="rect">
            <a:avLst/>
          </a:prstGeom>
          <a:noFill/>
          <a:ln/>
        </p:spPr>
        <p:txBody>
          <a:bodyPr wrap="square" rtlCol="0" anchor="ctr"/>
          <a:lstStyle/>
          <a:p>
            <a:pPr indent="0" marL="0">
              <a:lnSpc>
                <a:spcPct val="110000"/>
              </a:lnSpc>
              <a:buNone/>
            </a:pPr>
            <a:r>
              <a:rPr lang="en-US" sz="950" dirty="0">
                <a:solidFill>
                  <a:srgbClr val="334155"/>
                </a:solidFill>
                <a:latin typeface="Arial" pitchFamily="34" charset="0"/>
                <a:ea typeface="Arial" pitchFamily="34" charset="-122"/>
                <a:cs typeface="Arial" pitchFamily="34" charset="-120"/>
              </a:rPr>
              <a:t>Pupils will not just be tourists; they are historians carrying local history into the field:
</a:t>
            </a:r>
            <a:pPr indent="0" marL="0">
              <a:lnSpc>
                <a:spcPct val="110000"/>
              </a:lnSpc>
              <a:buNone/>
            </a:pPr>
            <a:r>
              <a:rPr lang="en-US" sz="950" b="1" dirty="0">
                <a:solidFill>
                  <a:srgbClr val="0F172A"/>
                </a:solidFill>
                <a:latin typeface="Arial" pitchFamily="34" charset="0"/>
                <a:ea typeface="Arial" pitchFamily="34" charset="-122"/>
                <a:cs typeface="Arial" pitchFamily="34" charset="-120"/>
              </a:rPr>
              <a:t>• Menin Gate Panel 35: </a:t>
            </a:r>
            <a:pPr indent="0" marL="0">
              <a:lnSpc>
                <a:spcPct val="110000"/>
              </a:lnSpc>
              <a:buNone/>
            </a:pPr>
            <a:r>
              <a:rPr lang="en-US" sz="950" dirty="0">
                <a:solidFill>
                  <a:srgbClr val="334155"/>
                </a:solidFill>
                <a:latin typeface="Arial" pitchFamily="34" charset="0"/>
                <a:ea typeface="Arial" pitchFamily="34" charset="-122"/>
                <a:cs typeface="Arial" pitchFamily="34" charset="-120"/>
              </a:rPr>
              <a:t>Locating Pte Thomas Franklin (Chark) &amp; Pte William Ayling (Stubbington baker's boy).
</a:t>
            </a:r>
            <a:pPr indent="0" marL="0">
              <a:lnSpc>
                <a:spcPct val="110000"/>
              </a:lnSpc>
              <a:buNone/>
            </a:pPr>
            <a:r>
              <a:rPr lang="en-US" sz="950" b="1" dirty="0">
                <a:solidFill>
                  <a:srgbClr val="0F172A"/>
                </a:solidFill>
                <a:latin typeface="Arial" pitchFamily="34" charset="0"/>
                <a:ea typeface="Arial" pitchFamily="34" charset="-122"/>
                <a:cs typeface="Arial" pitchFamily="34" charset="-120"/>
              </a:rPr>
              <a:t>• Tyne Cot Panels 88-90: </a:t>
            </a:r>
            <a:pPr indent="0" marL="0">
              <a:lnSpc>
                <a:spcPct val="110000"/>
              </a:lnSpc>
              <a:buNone/>
            </a:pPr>
            <a:r>
              <a:rPr lang="en-US" sz="950" dirty="0">
                <a:solidFill>
                  <a:srgbClr val="334155"/>
                </a:solidFill>
                <a:latin typeface="Arial" pitchFamily="34" charset="0"/>
                <a:ea typeface="Arial" pitchFamily="34" charset="-122"/>
                <a:cs typeface="Arial" pitchFamily="34" charset="-120"/>
              </a:rPr>
              <a:t>Touching the names of Pte Sydney Muckett, Pte Arthur Rye, and LCpl Archibald Ward.
</a:t>
            </a:r>
            <a:pPr indent="0" marL="0">
              <a:lnSpc>
                <a:spcPct val="110000"/>
              </a:lnSpc>
              <a:buNone/>
            </a:pPr>
            <a:r>
              <a:rPr lang="en-US" sz="950" b="1" dirty="0">
                <a:solidFill>
                  <a:srgbClr val="0F172A"/>
                </a:solidFill>
                <a:latin typeface="Arial" pitchFamily="34" charset="0"/>
                <a:ea typeface="Arial" pitchFamily="34" charset="-122"/>
                <a:cs typeface="Arial" pitchFamily="34" charset="-120"/>
              </a:rPr>
              <a:t>• Tyne Cot Panels 14-17: </a:t>
            </a:r>
            <a:pPr indent="0" marL="0">
              <a:lnSpc>
                <a:spcPct val="110000"/>
              </a:lnSpc>
              <a:buNone/>
            </a:pPr>
            <a:r>
              <a:rPr lang="en-US" sz="950" dirty="0">
                <a:solidFill>
                  <a:srgbClr val="334155"/>
                </a:solidFill>
                <a:latin typeface="Arial" pitchFamily="34" charset="0"/>
                <a:ea typeface="Arial" pitchFamily="34" charset="-122"/>
                <a:cs typeface="Arial" pitchFamily="34" charset="-120"/>
              </a:rPr>
              <a:t>Pte Charles Warland (son of Lee-on-the-Solent Golf Club secretary).
</a:t>
            </a:r>
            <a:pPr indent="0" marL="0">
              <a:lnSpc>
                <a:spcPct val="110000"/>
              </a:lnSpc>
              <a:buNone/>
            </a:pPr>
            <a:r>
              <a:rPr lang="en-US" sz="950" b="1" dirty="0">
                <a:solidFill>
                  <a:srgbClr val="1E3A8A"/>
                </a:solidFill>
                <a:latin typeface="Arial" pitchFamily="34" charset="0"/>
                <a:ea typeface="Arial" pitchFamily="34" charset="-122"/>
                <a:cs typeface="Arial" pitchFamily="34" charset="-120"/>
              </a:rPr>
              <a:t>Interactive Digital Tour Companion:
</a:t>
            </a:r>
            <a:pPr indent="0" marL="0">
              <a:lnSpc>
                <a:spcPct val="110000"/>
              </a:lnSpc>
              <a:buNone/>
            </a:pPr>
            <a:r>
              <a:rPr lang="en-US" sz="950" dirty="0">
                <a:solidFill>
                  <a:srgbClr val="334155"/>
                </a:solidFill>
                <a:latin typeface="Arial" pitchFamily="34" charset="0"/>
                <a:ea typeface="Arial" pitchFamily="34" charset="-122"/>
                <a:cs typeface="Arial" pitchFamily="34" charset="-120"/>
              </a:rPr>
              <a:t>the-history-revision-hub.netlify.app</a:t>
            </a:r>
            <a:endParaRPr lang="en-US" sz="950" dirty="0"/>
          </a:p>
          <a:p>
            <a:pPr indent="0" marL="0">
              <a:lnSpc>
                <a:spcPct val="110000"/>
              </a:lnSpc>
              <a:buNone/>
            </a:pPr>
            <a:r>
              <a:rPr lang="en-US" sz="950" dirty="0">
                <a:solidFill>
                  <a:srgbClr val="334155"/>
                </a:solidFill>
                <a:latin typeface="Arial" pitchFamily="34" charset="0"/>
                <a:ea typeface="Arial" pitchFamily="34" charset="-122"/>
                <a:cs typeface="Arial" pitchFamily="34" charset="-120"/>
              </a:rPr>
              <a:t>Featuring 16 battlefield poems, soldier dossiers, historical context &amp; cemetery maps.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The History Portal and The History Boys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Ypres 1914-1918 Battlefield Expedition - Parental Briefing</dc:title>
  <dc:subject>PptxGenJS Presentation</dc:subject>
  <dc:creator>Department Lead &amp; Mr James Garrett</dc:creator>
  <cp:lastModifiedBy>Department Lead &amp; Mr James Garrett</cp:lastModifiedBy>
  <cp:revision>1</cp:revision>
  <dcterms:created xsi:type="dcterms:W3CDTF">2026-09-18T03:36:33Z</dcterms:created>
  <dcterms:modified xsi:type="dcterms:W3CDTF">2026-09-18T03:36:33Z</dcterms:modified>
</cp:coreProperties>
</file>