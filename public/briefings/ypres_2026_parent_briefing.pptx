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051560"/>
          </a:xfrm>
          <a:prstGeom prst="rect">
            <a:avLst/>
          </a:prstGeom>
          <a:solidFill>
            <a:srgbClr val="0F172A"/>
          </a:solidFill>
          <a:ln/>
        </p:spPr>
      </p:sp>
      <p:sp>
        <p:nvSpPr>
          <p:cNvPr id="3" name="Text 1"/>
          <p:cNvSpPr/>
          <p:nvPr/>
        </p:nvSpPr>
        <p:spPr>
          <a:xfrm>
            <a:off x="457200" y="109728"/>
            <a:ext cx="8229600" cy="320040"/>
          </a:xfrm>
          <a:prstGeom prst="rect">
            <a:avLst/>
          </a:prstGeom>
          <a:noFill/>
          <a:ln/>
        </p:spPr>
        <p:txBody>
          <a:bodyPr wrap="square" rtlCol="0" anchor="ctr"/>
          <a:lstStyle/>
          <a:p>
            <a:pPr indent="0" marL="0">
              <a:buNone/>
            </a:pPr>
            <a:r>
              <a:rPr lang="en-US" sz="1800" b="1" dirty="0">
                <a:solidFill>
                  <a:srgbClr val="F1F5F9"/>
                </a:solidFill>
                <a:latin typeface="Georgia" pitchFamily="34" charset="0"/>
                <a:ea typeface="Georgia" pitchFamily="34" charset="-122"/>
                <a:cs typeface="Georgia" pitchFamily="34" charset="-120"/>
              </a:rPr>
              <a:t>YPRES 1914–1918: REMEMBRANCE, SACRIFICE &amp; LOCAL HERITAGE</a:t>
            </a:r>
            <a:endParaRPr lang="en-US" sz="1800" dirty="0"/>
          </a:p>
        </p:txBody>
      </p:sp>
      <p:sp>
        <p:nvSpPr>
          <p:cNvPr id="4" name="Text 2"/>
          <p:cNvSpPr/>
          <p:nvPr/>
        </p:nvSpPr>
        <p:spPr>
          <a:xfrm>
            <a:off x="457200" y="429768"/>
            <a:ext cx="8229600" cy="256032"/>
          </a:xfrm>
          <a:prstGeom prst="rect">
            <a:avLst/>
          </a:prstGeom>
          <a:noFill/>
          <a:ln/>
        </p:spPr>
        <p:txBody>
          <a:bodyPr wrap="square" rtlCol="0" anchor="ctr"/>
          <a:lstStyle/>
          <a:p>
            <a:pPr indent="0" marL="0">
              <a:buNone/>
            </a:pPr>
            <a:r>
              <a:rPr lang="en-US" sz="1050" b="1" dirty="0">
                <a:solidFill>
                  <a:srgbClr val="F59E0B"/>
                </a:solidFill>
                <a:latin typeface="Arial" pitchFamily="34" charset="0"/>
                <a:ea typeface="Arial" pitchFamily="34" charset="-122"/>
                <a:cs typeface="Arial" pitchFamily="34" charset="-120"/>
              </a:rPr>
              <a:t>Meoncross School History Department &amp; The History Boys · Mr B. Lovett &amp; Mr J. Garrett (Leaders) · Accompanied by Two Meoncross Staff</a:t>
            </a:r>
            <a:endParaRPr lang="en-US" sz="1050" dirty="0"/>
          </a:p>
        </p:txBody>
      </p:sp>
      <p:sp>
        <p:nvSpPr>
          <p:cNvPr id="5" name="Text 3"/>
          <p:cNvSpPr/>
          <p:nvPr/>
        </p:nvSpPr>
        <p:spPr>
          <a:xfrm>
            <a:off x="457200" y="704088"/>
            <a:ext cx="8229600" cy="228600"/>
          </a:xfrm>
          <a:prstGeom prst="rect">
            <a:avLst/>
          </a:prstGeom>
          <a:noFill/>
          <a:ln/>
        </p:spPr>
        <p:txBody>
          <a:bodyPr wrap="square" rtlCol="0" anchor="ctr"/>
          <a:lstStyle/>
          <a:p>
            <a:pPr indent="0" marL="0">
              <a:buNone/>
            </a:pPr>
            <a:r>
              <a:rPr lang="en-US" sz="1000" dirty="0">
                <a:solidFill>
                  <a:srgbClr val="94A3B8"/>
                </a:solidFill>
                <a:latin typeface="Arial" pitchFamily="34" charset="0"/>
                <a:ea typeface="Arial" pitchFamily="34" charset="-122"/>
                <a:cs typeface="Arial" pitchFamily="34" charset="-120"/>
              </a:rPr>
              <a:t>Thursday 1st October – Saturday 3rd October 2026   |   Expedition Base: Peace Village Hostel, Flanders</a:t>
            </a:r>
            <a:endParaRPr lang="en-US" sz="1000" dirty="0"/>
          </a:p>
        </p:txBody>
      </p:sp>
      <p:sp>
        <p:nvSpPr>
          <p:cNvPr id="6" name="Shape 4"/>
          <p:cNvSpPr/>
          <p:nvPr/>
        </p:nvSpPr>
        <p:spPr>
          <a:xfrm>
            <a:off x="365760" y="1234440"/>
            <a:ext cx="2651760" cy="3337560"/>
          </a:xfrm>
          <a:prstGeom prst="roundRect">
            <a:avLst/>
          </a:prstGeom>
          <a:solidFill>
            <a:srgbClr val="FFFFFF"/>
          </a:solidFill>
          <a:ln w="12700">
            <a:solidFill>
              <a:srgbClr val="CBD5E1"/>
            </a:solidFill>
            <a:prstDash val="solid"/>
          </a:ln>
        </p:spPr>
      </p:sp>
      <p:sp>
        <p:nvSpPr>
          <p:cNvPr id="7" name="Shape 5"/>
          <p:cNvSpPr/>
          <p:nvPr/>
        </p:nvSpPr>
        <p:spPr>
          <a:xfrm>
            <a:off x="365760" y="1234440"/>
            <a:ext cx="2651760" cy="365760"/>
          </a:xfrm>
          <a:prstGeom prst="rect">
            <a:avLst/>
          </a:prstGeom>
          <a:solidFill>
            <a:srgbClr val="1E3A8A"/>
          </a:solidFill>
          <a:ln/>
        </p:spPr>
      </p:sp>
      <p:sp>
        <p:nvSpPr>
          <p:cNvPr id="8" name="Text 6"/>
          <p:cNvSpPr/>
          <p:nvPr/>
        </p:nvSpPr>
        <p:spPr>
          <a:xfrm>
            <a:off x="45720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1. 3-DAY EXPEDITION ITINERARY</a:t>
            </a:r>
            <a:endParaRPr lang="en-US" sz="1000" dirty="0"/>
          </a:p>
        </p:txBody>
      </p:sp>
      <p:sp>
        <p:nvSpPr>
          <p:cNvPr id="9" name="Text 7"/>
          <p:cNvSpPr/>
          <p:nvPr/>
        </p:nvSpPr>
        <p:spPr>
          <a:xfrm>
            <a:off x="50292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1: North Salient &amp; Mine Warfare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06:15 departure from Meoncross School (Jet Connect).
• 11:20 Eurotunnel; 14:30 Essex Farm ADS (Valentine Strudwick).
• 15:15 Langemarck &amp; 16:00 Hooge Crater Museum.
• 17:45 Peace Village, 18:15 dinner &amp; 19:15 classroom debrief.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2: Passchendaele, Medical Sites &amp; Last Post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09:15 Brooding Soldier &amp; 09:45 Sanctuary Wood.
• 11:30 Aldi Ypres lunch stop; 13:00 Tyne Cot (our fallen).
• 14:15 Lijssenthoek CCS &amp; 15:45 Passchendaele Museum.
• 18:00 dinner; 19:20 arrive Menin Gate for 20:00 Last Post.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3: Ypres Daylight, Talbot House &amp; Return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09:15 Menin Gate &amp; Ramparts walk.</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10:30 De Groote’s Chocolatier (Grote Markt; €30–€40 envelope).</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11:20 Talbot House, 12:45 lunch, 13:30 Town Hall Death Cells.</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14:30 depart for Calais; arrive school approx 20:00.</a:t>
            </a:r>
            <a:endParaRPr lang="en-US" sz="950" dirty="0"/>
          </a:p>
        </p:txBody>
      </p:sp>
      <p:sp>
        <p:nvSpPr>
          <p:cNvPr id="10" name="Shape 8"/>
          <p:cNvSpPr/>
          <p:nvPr/>
        </p:nvSpPr>
        <p:spPr>
          <a:xfrm>
            <a:off x="3246120" y="1234440"/>
            <a:ext cx="2651760" cy="3337560"/>
          </a:xfrm>
          <a:prstGeom prst="roundRect">
            <a:avLst/>
          </a:prstGeom>
          <a:solidFill>
            <a:srgbClr val="FFFFFF"/>
          </a:solidFill>
          <a:ln w="12700">
            <a:solidFill>
              <a:srgbClr val="CBD5E1"/>
            </a:solidFill>
            <a:prstDash val="solid"/>
          </a:ln>
        </p:spPr>
      </p:sp>
      <p:sp>
        <p:nvSpPr>
          <p:cNvPr id="11" name="Shape 9"/>
          <p:cNvSpPr/>
          <p:nvPr/>
        </p:nvSpPr>
        <p:spPr>
          <a:xfrm>
            <a:off x="3246120" y="1234440"/>
            <a:ext cx="2651760" cy="365760"/>
          </a:xfrm>
          <a:prstGeom prst="rect">
            <a:avLst/>
          </a:prstGeom>
          <a:solidFill>
            <a:srgbClr val="B45309"/>
          </a:solidFill>
          <a:ln/>
        </p:spPr>
      </p:sp>
      <p:sp>
        <p:nvSpPr>
          <p:cNvPr id="12" name="Text 10"/>
          <p:cNvSpPr/>
          <p:nvPr/>
        </p:nvSpPr>
        <p:spPr>
          <a:xfrm>
            <a:off x="333756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2. FOOD, MONEY &amp; ROOMING</a:t>
            </a:r>
            <a:endParaRPr lang="en-US" sz="1000" dirty="0"/>
          </a:p>
        </p:txBody>
      </p:sp>
      <p:sp>
        <p:nvSpPr>
          <p:cNvPr id="13" name="Text 11"/>
          <p:cNvSpPr/>
          <p:nvPr/>
        </p:nvSpPr>
        <p:spPr>
          <a:xfrm>
            <a:off x="338328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Catering &amp; Meals Provided: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Thu Day 1: Bring packed lunch from home.
• Buffet breakfasts at hostel (Fri &amp; Sat mornings).
• 2-course dinners served on-site at Peace Village.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Spending Money (Euros):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Pupils need €30 to €40 in cash (Euros).
• Used for supermarket lunch stops on Friday and Saturday, chocolates &amp; souvenirs.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Accommodation &amp; Rooming: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Peace Village Hostel, Heuvelland (4-7 bunks).</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Rooming sent in ~2 weeks (friend requests).</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Dietary options (e.g. vegetarian) gathered alongside rooming info.</a:t>
            </a:r>
            <a:endParaRPr lang="en-US" sz="950" dirty="0"/>
          </a:p>
        </p:txBody>
      </p:sp>
      <p:sp>
        <p:nvSpPr>
          <p:cNvPr id="14" name="Shape 12"/>
          <p:cNvSpPr/>
          <p:nvPr/>
        </p:nvSpPr>
        <p:spPr>
          <a:xfrm>
            <a:off x="6126480" y="1234440"/>
            <a:ext cx="2651760" cy="3337560"/>
          </a:xfrm>
          <a:prstGeom prst="roundRect">
            <a:avLst/>
          </a:prstGeom>
          <a:solidFill>
            <a:srgbClr val="FFFFFF"/>
          </a:solidFill>
          <a:ln w="12700">
            <a:solidFill>
              <a:srgbClr val="CBD5E1"/>
            </a:solidFill>
            <a:prstDash val="solid"/>
          </a:ln>
        </p:spPr>
      </p:sp>
      <p:sp>
        <p:nvSpPr>
          <p:cNvPr id="15" name="Shape 13"/>
          <p:cNvSpPr/>
          <p:nvPr/>
        </p:nvSpPr>
        <p:spPr>
          <a:xfrm>
            <a:off x="6126480" y="1234440"/>
            <a:ext cx="2651760" cy="365760"/>
          </a:xfrm>
          <a:prstGeom prst="rect">
            <a:avLst/>
          </a:prstGeom>
          <a:solidFill>
            <a:srgbClr val="15803D"/>
          </a:solidFill>
          <a:ln/>
        </p:spPr>
      </p:sp>
      <p:sp>
        <p:nvSpPr>
          <p:cNvPr id="16" name="Text 14"/>
          <p:cNvSpPr/>
          <p:nvPr/>
        </p:nvSpPr>
        <p:spPr>
          <a:xfrm>
            <a:off x="621792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3. ESSENTIAL KIT &amp; NEXT STEPS</a:t>
            </a:r>
            <a:endParaRPr lang="en-US" sz="1000" dirty="0"/>
          </a:p>
        </p:txBody>
      </p:sp>
      <p:sp>
        <p:nvSpPr>
          <p:cNvPr id="17" name="Text 15"/>
          <p:cNvSpPr/>
          <p:nvPr/>
        </p:nvSpPr>
        <p:spPr>
          <a:xfrm>
            <a:off x="6263640" y="1691640"/>
            <a:ext cx="2377440" cy="2788920"/>
          </a:xfrm>
          <a:prstGeom prst="rect">
            <a:avLst/>
          </a:prstGeom>
          <a:noFill/>
          <a:ln/>
        </p:spPr>
        <p:txBody>
          <a:bodyPr wrap="square" rtlCol="0" anchor="ctr"/>
          <a:lstStyle/>
          <a:p>
            <a:pPr indent="0" marL="0">
              <a:lnSpc>
                <a:spcPct val="102000"/>
              </a:lnSpc>
              <a:buNone/>
            </a:pPr>
            <a:r>
              <a:rPr lang="en-US" sz="900" b="1" dirty="0">
                <a:solidFill>
                  <a:srgbClr val="0F172A"/>
                </a:solidFill>
                <a:latin typeface="Arial" pitchFamily="34" charset="0"/>
                <a:ea typeface="Arial" pitchFamily="34" charset="-122"/>
                <a:cs typeface="Arial" pitchFamily="34" charset="-120"/>
              </a:rPr>
              <a:t>Essential Packing (Autumn Weather):
</a:t>
            </a:r>
            <a:pPr indent="0" marL="0">
              <a:lnSpc>
                <a:spcPct val="102000"/>
              </a:lnSpc>
              <a:buNone/>
            </a:pPr>
            <a:r>
              <a:rPr lang="en-US" sz="780" dirty="0">
                <a:solidFill>
                  <a:srgbClr val="334155"/>
                </a:solidFill>
                <a:latin typeface="Arial" pitchFamily="34" charset="0"/>
                <a:ea typeface="Arial" pitchFamily="34" charset="-122"/>
                <a:cs typeface="Arial" pitchFamily="34" charset="-120"/>
              </a:rPr>
              <a:t>• Boots/wellies + spare clean shoes + plastic bag.
• Bath towel (mandatory) &amp; roll-on toiletries.
• Waterproof raincoat, warm fleece, hat &amp; gloves.
• 1 medium case (&lt;15kg) + 1 coach daypack.
</a:t>
            </a:r>
            <a:pPr indent="0" marL="0">
              <a:lnSpc>
                <a:spcPct val="102000"/>
              </a:lnSpc>
              <a:buNone/>
            </a:pPr>
            <a:r>
              <a:rPr lang="en-US" sz="900" b="1" dirty="0">
                <a:solidFill>
                  <a:srgbClr val="0F172A"/>
                </a:solidFill>
                <a:latin typeface="Arial" pitchFamily="34" charset="0"/>
                <a:ea typeface="Arial" pitchFamily="34" charset="-122"/>
                <a:cs typeface="Arial" pitchFamily="34" charset="-120"/>
              </a:rPr>
              <a:t>Documents, Health &amp; Medication:
</a:t>
            </a:r>
            <a:pPr indent="0" marL="0">
              <a:lnSpc>
                <a:spcPct val="102000"/>
              </a:lnSpc>
              <a:buNone/>
            </a:pPr>
            <a:r>
              <a:rPr lang="en-US" sz="780" dirty="0">
                <a:solidFill>
                  <a:srgbClr val="334155"/>
                </a:solidFill>
                <a:latin typeface="Arial" pitchFamily="34" charset="0"/>
                <a:ea typeface="Arial" pitchFamily="34" charset="-122"/>
                <a:cs typeface="Arial" pitchFamily="34" charset="-120"/>
              </a:rPr>
              <a:t>• Passports &amp; GHIC: Collected tonight!
• Medication forms tonight: original packaging only; prescription must show child's name.
• Code of Conduct Agreement due Fri 25 Sep.
</a:t>
            </a:r>
            <a:pPr indent="0" marL="0">
              <a:lnSpc>
                <a:spcPct val="102000"/>
              </a:lnSpc>
              <a:buNone/>
            </a:pPr>
            <a:r>
              <a:rPr lang="en-US" sz="900" b="1" dirty="0">
                <a:solidFill>
                  <a:srgbClr val="0F172A"/>
                </a:solidFill>
                <a:latin typeface="Arial" pitchFamily="34" charset="0"/>
                <a:ea typeface="Arial" pitchFamily="34" charset="-122"/>
                <a:cs typeface="Arial" pitchFamily="34" charset="-120"/>
              </a:rPr>
              <a:t>Communications &amp; 24/7 Emergency:
</a:t>
            </a:r>
            <a:pPr indent="0" marL="0">
              <a:lnSpc>
                <a:spcPct val="102000"/>
              </a:lnSpc>
              <a:buNone/>
            </a:pPr>
            <a:r>
              <a:rPr lang="en-US" sz="780" dirty="0">
                <a:solidFill>
                  <a:srgbClr val="334155"/>
                </a:solidFill>
                <a:latin typeface="Arial" pitchFamily="34" charset="0"/>
                <a:ea typeface="Arial" pitchFamily="34" charset="-122"/>
                <a:cs typeface="Arial" pitchFamily="34" charset="-120"/>
              </a:rPr>
              <a:t>• 24/7 Trip Mobile: 07825 297749 (keep lines reachable).</a:t>
            </a:r>
            <a:endParaRPr lang="en-US" sz="900" dirty="0"/>
          </a:p>
          <a:p>
            <a:pPr indent="0" marL="0">
              <a:lnSpc>
                <a:spcPct val="102000"/>
              </a:lnSpc>
              <a:buNone/>
            </a:pPr>
            <a:r>
              <a:rPr lang="en-US" sz="780" dirty="0">
                <a:solidFill>
                  <a:srgbClr val="334155"/>
                </a:solidFill>
                <a:latin typeface="Arial" pitchFamily="34" charset="0"/>
                <a:ea typeface="Arial" pitchFamily="34" charset="-122"/>
                <a:cs typeface="Arial" pitchFamily="34" charset="-120"/>
              </a:rPr>
              <a:t>• WhatsApp Group: Join via QR tonight for tour photos.</a:t>
            </a:r>
            <a:endParaRPr lang="en-US" sz="900" dirty="0"/>
          </a:p>
          <a:p>
            <a:pPr indent="0" marL="0">
              <a:lnSpc>
                <a:spcPct val="102000"/>
              </a:lnSpc>
              <a:buNone/>
            </a:pPr>
            <a:r>
              <a:rPr lang="en-US" sz="780" dirty="0">
                <a:solidFill>
                  <a:srgbClr val="334155"/>
                </a:solidFill>
                <a:latin typeface="Arial" pitchFamily="34" charset="0"/>
                <a:ea typeface="Arial" pitchFamily="34" charset="-122"/>
                <a:cs typeface="Arial" pitchFamily="34" charset="-120"/>
              </a:rPr>
              <a:t>• Student phones collected in staff bag at night.</a:t>
            </a:r>
            <a:endParaRPr lang="en-US" sz="900" dirty="0"/>
          </a:p>
        </p:txBody>
      </p:sp>
      <p:sp>
        <p:nvSpPr>
          <p:cNvPr id="18" name="Shape 16"/>
          <p:cNvSpPr/>
          <p:nvPr/>
        </p:nvSpPr>
        <p:spPr>
          <a:xfrm>
            <a:off x="0" y="4663440"/>
            <a:ext cx="9144000" cy="480060"/>
          </a:xfrm>
          <a:prstGeom prst="rect">
            <a:avLst/>
          </a:prstGeom>
          <a:solidFill>
            <a:srgbClr val="0F172A"/>
          </a:solidFill>
          <a:ln/>
        </p:spPr>
      </p:sp>
      <p:pic>
        <p:nvPicPr>
          <p:cNvPr id="19" name="Image 0" descr="C:\Projects\meoncross-history.netlify.app\public\images\tour_app_qr.png">    </p:cNvPr>
          <p:cNvPicPr>
            <a:picLocks noChangeAspect="1"/>
          </p:cNvPicPr>
          <p:nvPr/>
        </p:nvPicPr>
        <p:blipFill>
          <a:blip r:embed="rId1"/>
          <a:stretch>
            <a:fillRect/>
          </a:stretch>
        </p:blipFill>
        <p:spPr>
          <a:xfrm>
            <a:off x="457200" y="4681728"/>
            <a:ext cx="438912" cy="438912"/>
          </a:xfrm>
          <a:prstGeom prst="rect">
            <a:avLst/>
          </a:prstGeom>
        </p:spPr>
      </p:pic>
      <p:sp>
        <p:nvSpPr>
          <p:cNvPr id="20" name="Text 17"/>
          <p:cNvSpPr/>
          <p:nvPr/>
        </p:nvSpPr>
        <p:spPr>
          <a:xfrm>
            <a:off x="1005840" y="4709160"/>
            <a:ext cx="4754880" cy="18288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INTERACTIVE DIGITAL FIELD GUIDE:  meoncross-history.netlify.app</a:t>
            </a:r>
            <a:endParaRPr lang="en-US" sz="1000" dirty="0"/>
          </a:p>
        </p:txBody>
      </p:sp>
      <p:sp>
        <p:nvSpPr>
          <p:cNvPr id="21" name="Text 18"/>
          <p:cNvSpPr/>
          <p:nvPr/>
        </p:nvSpPr>
        <p:spPr>
          <a:xfrm>
            <a:off x="1005840" y="4882896"/>
            <a:ext cx="4754880" cy="164592"/>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Scan QR or visit URL · 24/7 Trip Mobile: 07825 297749 (Emergency &amp; calls from staff)</a:t>
            </a:r>
            <a:endParaRPr lang="en-US" sz="800" dirty="0"/>
          </a:p>
        </p:txBody>
      </p:sp>
      <p:sp>
        <p:nvSpPr>
          <p:cNvPr id="22" name="Text 19"/>
          <p:cNvSpPr/>
          <p:nvPr/>
        </p:nvSpPr>
        <p:spPr>
          <a:xfrm>
            <a:off x="5852160" y="4700016"/>
            <a:ext cx="3108960" cy="347472"/>
          </a:xfrm>
          <a:prstGeom prst="rect">
            <a:avLst/>
          </a:prstGeom>
          <a:noFill/>
          <a:ln/>
        </p:spPr>
        <p:txBody>
          <a:bodyPr wrap="square" rtlCol="0" anchor="ctr"/>
          <a:lstStyle/>
          <a:p>
            <a:pPr algn="r" indent="0" marL="0">
              <a:buNone/>
            </a:pPr>
            <a:r>
              <a:rPr lang="en-US" sz="850" b="1" dirty="0">
                <a:solidFill>
                  <a:srgbClr val="F59E0B"/>
                </a:solidFill>
                <a:latin typeface="Arial" pitchFamily="34" charset="0"/>
                <a:ea typeface="Arial" pitchFamily="34" charset="-122"/>
                <a:cs typeface="Arial" pitchFamily="34" charset="-120"/>
              </a:rPr>
              <a:t>🚨 24/7 Mobile: 07825 297749</a:t>
            </a:r>
            <a:endParaRPr lang="en-US" sz="850" dirty="0"/>
          </a:p>
          <a:p>
            <a:pPr algn="r" indent="0" marL="0">
              <a:buNone/>
            </a:pPr>
            <a:r>
              <a:rPr lang="en-US" sz="850" b="1" dirty="0">
                <a:solidFill>
                  <a:srgbClr val="F59E0B"/>
                </a:solidFill>
                <a:latin typeface="Arial" pitchFamily="34" charset="0"/>
                <a:ea typeface="Arial" pitchFamily="34" charset="-122"/>
                <a:cs typeface="Arial" pitchFamily="34" charset="-120"/>
              </a:rPr>
              <a:t>School Base: 01329 662182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DETAILED PACKING LIST &amp; PRACTICAL CHECKLIST</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Preparation advice for autumn weather in the Flanders Salient · Meoncross History Department</a:t>
            </a:r>
            <a:endParaRPr lang="en-US" sz="1000" dirty="0"/>
          </a:p>
        </p:txBody>
      </p:sp>
      <p:sp>
        <p:nvSpPr>
          <p:cNvPr id="5" name="Shape 3"/>
          <p:cNvSpPr/>
          <p:nvPr/>
        </p:nvSpPr>
        <p:spPr>
          <a:xfrm>
            <a:off x="548640" y="960120"/>
            <a:ext cx="3931920" cy="1783080"/>
          </a:xfrm>
          <a:prstGeom prst="roundRect">
            <a:avLst/>
          </a:prstGeom>
          <a:solidFill>
            <a:srgbClr val="FFFFFF"/>
          </a:solidFill>
          <a:ln w="12700">
            <a:solidFill>
              <a:srgbClr val="CBD5E1"/>
            </a:solidFill>
            <a:prstDash val="solid"/>
          </a:ln>
        </p:spPr>
      </p:sp>
      <p:sp>
        <p:nvSpPr>
          <p:cNvPr id="6" name="Text 4"/>
          <p:cNvSpPr/>
          <p:nvPr/>
        </p:nvSpPr>
        <p:spPr>
          <a:xfrm>
            <a:off x="731520" y="1051560"/>
            <a:ext cx="3566160" cy="228600"/>
          </a:xfrm>
          <a:prstGeom prst="rect">
            <a:avLst/>
          </a:prstGeom>
          <a:noFill/>
          <a:ln/>
        </p:spPr>
        <p:txBody>
          <a:bodyPr wrap="square" rtlCol="0" anchor="ctr"/>
          <a:lstStyle/>
          <a:p>
            <a:pPr indent="0" marL="0">
              <a:buNone/>
            </a:pPr>
            <a:r>
              <a:rPr lang="en-US" sz="1100" b="1" dirty="0">
                <a:solidFill>
                  <a:srgbClr val="1E3A8A"/>
                </a:solidFill>
                <a:latin typeface="Arial" pitchFamily="34" charset="0"/>
                <a:ea typeface="Arial" pitchFamily="34" charset="-122"/>
                <a:cs typeface="Arial" pitchFamily="34" charset="-120"/>
              </a:rPr>
              <a:t>🥾 FOOTWEAR &amp; SANCTUARY WOOD PREPARATION</a:t>
            </a:r>
            <a:endParaRPr lang="en-US" sz="1100" dirty="0"/>
          </a:p>
        </p:txBody>
      </p:sp>
      <p:sp>
        <p:nvSpPr>
          <p:cNvPr id="7" name="Text 5"/>
          <p:cNvSpPr/>
          <p:nvPr/>
        </p:nvSpPr>
        <p:spPr>
          <a:xfrm>
            <a:off x="731520" y="1298448"/>
            <a:ext cx="3566160" cy="1325880"/>
          </a:xfrm>
          <a:prstGeom prst="rect">
            <a:avLst/>
          </a:prstGeom>
          <a:noFill/>
          <a:ln/>
        </p:spPr>
        <p:txBody>
          <a:bodyPr wrap="square" rtlCol="0" anchor="ctr"/>
          <a:lstStyle/>
          <a:p>
            <a:pPr indent="0" marL="0">
              <a:lnSpc>
                <a:spcPct val="105000"/>
              </a:lnSpc>
              <a:buNone/>
            </a:pPr>
            <a:r>
              <a:rPr lang="en-US" sz="850" b="1" dirty="0">
                <a:solidFill>
                  <a:srgbClr val="334155"/>
                </a:solidFill>
                <a:latin typeface="Arial" pitchFamily="34" charset="0"/>
                <a:ea typeface="Arial" pitchFamily="34" charset="-122"/>
                <a:cs typeface="Arial" pitchFamily="34" charset="-120"/>
              </a:rPr>
              <a:t>• Sanctuary Wood Trenches: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Real, muddy frontline trenches. Must bring boots/wellies!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Separate Footwear &amp; Plastic Bag: </a:t>
            </a:r>
            <a:pPr indent="0" marL="0">
              <a:lnSpc>
                <a:spcPct val="105000"/>
              </a:lnSpc>
              <a:buNone/>
            </a:pPr>
            <a:r>
              <a:rPr lang="en-US" sz="850" dirty="0">
                <a:solidFill>
                  <a:srgbClr val="334155"/>
                </a:solidFill>
                <a:latin typeface="Arial" pitchFamily="34" charset="0"/>
                <a:ea typeface="Arial" pitchFamily="34" charset="-122"/>
                <a:cs typeface="Arial" pitchFamily="34" charset="-120"/>
              </a:rPr>
              <a:t>Bring spare clean shoes/trainers + carrier bag for muddy boots.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Waterproof Raincoat: </a:t>
            </a:r>
            <a:pPr indent="0" marL="0">
              <a:lnSpc>
                <a:spcPct val="105000"/>
              </a:lnSpc>
              <a:buNone/>
            </a:pPr>
            <a:r>
              <a:rPr lang="en-US" sz="850" dirty="0">
                <a:solidFill>
                  <a:srgbClr val="334155"/>
                </a:solidFill>
                <a:latin typeface="Arial" pitchFamily="34" charset="0"/>
                <a:ea typeface="Arial" pitchFamily="34" charset="-122"/>
                <a:cs typeface="Arial" pitchFamily="34" charset="-120"/>
              </a:rPr>
              <a:t>Windproof with hood. We tour regardless of light rain.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Warm Fleece &amp; Layers: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Temperatures drop quickly on exposed ridges.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Hat &amp; Gloves: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Crucial for standing still during the 8:00 PM Menin Gate ceremony.</a:t>
            </a:r>
            <a:endParaRPr lang="en-US" sz="850" dirty="0"/>
          </a:p>
        </p:txBody>
      </p:sp>
      <p:sp>
        <p:nvSpPr>
          <p:cNvPr id="8" name="Shape 6"/>
          <p:cNvSpPr/>
          <p:nvPr/>
        </p:nvSpPr>
        <p:spPr>
          <a:xfrm>
            <a:off x="4663440" y="960120"/>
            <a:ext cx="3931920" cy="1783080"/>
          </a:xfrm>
          <a:prstGeom prst="roundRect">
            <a:avLst/>
          </a:prstGeom>
          <a:solidFill>
            <a:srgbClr val="FFFFFF"/>
          </a:solidFill>
          <a:ln w="12700">
            <a:solidFill>
              <a:srgbClr val="CBD5E1"/>
            </a:solidFill>
            <a:prstDash val="solid"/>
          </a:ln>
        </p:spPr>
      </p:sp>
      <p:sp>
        <p:nvSpPr>
          <p:cNvPr id="9" name="Text 7"/>
          <p:cNvSpPr/>
          <p:nvPr/>
        </p:nvSpPr>
        <p:spPr>
          <a:xfrm>
            <a:off x="4846320" y="1051560"/>
            <a:ext cx="3566160" cy="228600"/>
          </a:xfrm>
          <a:prstGeom prst="rect">
            <a:avLst/>
          </a:prstGeom>
          <a:noFill/>
          <a:ln/>
        </p:spPr>
        <p:txBody>
          <a:bodyPr wrap="square" rtlCol="0" anchor="ctr"/>
          <a:lstStyle/>
          <a:p>
            <a:pPr indent="0" marL="0">
              <a:buNone/>
            </a:pPr>
            <a:r>
              <a:rPr lang="en-US" sz="1100" b="1" dirty="0">
                <a:solidFill>
                  <a:srgbClr val="B45309"/>
                </a:solidFill>
                <a:latin typeface="Arial" pitchFamily="34" charset="0"/>
                <a:ea typeface="Arial" pitchFamily="34" charset="-122"/>
                <a:cs typeface="Arial" pitchFamily="34" charset="-120"/>
              </a:rPr>
              <a:t>🎒 LUGGAGE, TOWELS &amp; WASHBAG</a:t>
            </a:r>
            <a:endParaRPr lang="en-US" sz="1100" dirty="0"/>
          </a:p>
        </p:txBody>
      </p:sp>
      <p:sp>
        <p:nvSpPr>
          <p:cNvPr id="10" name="Text 8"/>
          <p:cNvSpPr/>
          <p:nvPr/>
        </p:nvSpPr>
        <p:spPr>
          <a:xfrm>
            <a:off x="4846320" y="1298448"/>
            <a:ext cx="3566160" cy="1325880"/>
          </a:xfrm>
          <a:prstGeom prst="rect">
            <a:avLst/>
          </a:prstGeom>
          <a:noFill/>
          <a:ln/>
        </p:spPr>
        <p:txBody>
          <a:bodyPr wrap="square" rtlCol="0" anchor="ctr"/>
          <a:lstStyle/>
          <a:p>
            <a:pPr indent="0" marL="0">
              <a:lnSpc>
                <a:spcPct val="105000"/>
              </a:lnSpc>
              <a:buNone/>
            </a:pPr>
            <a:r>
              <a:rPr lang="en-US" sz="850" b="1" dirty="0">
                <a:solidFill>
                  <a:srgbClr val="334155"/>
                </a:solidFill>
                <a:latin typeface="Arial" pitchFamily="34" charset="0"/>
                <a:ea typeface="Arial" pitchFamily="34" charset="-122"/>
                <a:cs typeface="Arial" pitchFamily="34" charset="-120"/>
              </a:rPr>
              <a:t>• TOWELS (Mandatory): </a:t>
            </a:r>
            <a:pPr indent="0" marL="0">
              <a:lnSpc>
                <a:spcPct val="105000"/>
              </a:lnSpc>
              <a:buNone/>
            </a:pPr>
            <a:r>
              <a:rPr lang="en-US" sz="850" dirty="0">
                <a:solidFill>
                  <a:srgbClr val="334155"/>
                </a:solidFill>
                <a:latin typeface="Arial" pitchFamily="34" charset="0"/>
                <a:ea typeface="Arial" pitchFamily="34" charset="-122"/>
                <a:cs typeface="Arial" pitchFamily="34" charset="-120"/>
              </a:rPr>
              <a:t>Pupils must bring their own bath/shower towel! (None provided).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Washbag &amp; Shower Gel: </a:t>
            </a:r>
            <a:pPr indent="0" marL="0">
              <a:lnSpc>
                <a:spcPct val="105000"/>
              </a:lnSpc>
              <a:buNone/>
            </a:pPr>
            <a:r>
              <a:rPr lang="en-US" sz="850" dirty="0">
                <a:solidFill>
                  <a:srgbClr val="334155"/>
                </a:solidFill>
                <a:latin typeface="Arial" pitchFamily="34" charset="0"/>
                <a:ea typeface="Arial" pitchFamily="34" charset="-122"/>
                <a:cs typeface="Arial" pitchFamily="34" charset="-120"/>
              </a:rPr>
              <a:t>Shower gel, shampoo, toothbrush, roll-on deodorant (no aerosols).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1 Main Holdall / Case: </a:t>
            </a:r>
            <a:pPr indent="0" marL="0">
              <a:lnSpc>
                <a:spcPct val="105000"/>
              </a:lnSpc>
              <a:buNone/>
            </a:pPr>
            <a:r>
              <a:rPr lang="en-US" sz="850" dirty="0">
                <a:solidFill>
                  <a:srgbClr val="334155"/>
                </a:solidFill>
                <a:latin typeface="Arial" pitchFamily="34" charset="0"/>
                <a:ea typeface="Arial" pitchFamily="34" charset="-122"/>
                <a:cs typeface="Arial" pitchFamily="34" charset="-120"/>
              </a:rPr>
              <a:t>Goes underneath in coach hold until arrival at hostel (max 15kg).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1 Small Daypack: </a:t>
            </a:r>
            <a:pPr indent="0" marL="0">
              <a:lnSpc>
                <a:spcPct val="105000"/>
              </a:lnSpc>
              <a:buNone/>
            </a:pPr>
            <a:r>
              <a:rPr lang="en-US" sz="850" dirty="0">
                <a:solidFill>
                  <a:srgbClr val="334155"/>
                </a:solidFill>
                <a:latin typeface="Arial" pitchFamily="34" charset="0"/>
                <a:ea typeface="Arial" pitchFamily="34" charset="-122"/>
                <a:cs typeface="Arial" pitchFamily="34" charset="-120"/>
              </a:rPr>
              <a:t>Stays on coach. Holds waterproofs, plastic bag, packed lunch &amp; water.
</a:t>
            </a:r>
            <a:pPr indent="0" marL="0">
              <a:lnSpc>
                <a:spcPct val="105000"/>
              </a:lnSpc>
              <a:buNone/>
            </a:pPr>
            <a:r>
              <a:rPr lang="en-US" sz="850" b="1" dirty="0">
                <a:solidFill>
                  <a:srgbClr val="334155"/>
                </a:solidFill>
                <a:latin typeface="Arial" pitchFamily="34" charset="0"/>
                <a:ea typeface="Arial" pitchFamily="34" charset="-122"/>
                <a:cs typeface="Arial" pitchFamily="34" charset="-120"/>
              </a:rPr>
              <a:t>• Casual Clothes: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Comfortable clothing for downtime at hostel. No restaurant wear.</a:t>
            </a:r>
            <a:endParaRPr lang="en-US" sz="850" dirty="0"/>
          </a:p>
        </p:txBody>
      </p:sp>
      <p:sp>
        <p:nvSpPr>
          <p:cNvPr id="11" name="Shape 9"/>
          <p:cNvSpPr/>
          <p:nvPr/>
        </p:nvSpPr>
        <p:spPr>
          <a:xfrm>
            <a:off x="548640" y="2880360"/>
            <a:ext cx="3931920" cy="1783080"/>
          </a:xfrm>
          <a:prstGeom prst="roundRect">
            <a:avLst/>
          </a:prstGeom>
          <a:solidFill>
            <a:srgbClr val="FFFFFF"/>
          </a:solidFill>
          <a:ln w="12700">
            <a:solidFill>
              <a:srgbClr val="CBD5E1"/>
            </a:solidFill>
            <a:prstDash val="solid"/>
          </a:ln>
        </p:spPr>
      </p:sp>
      <p:sp>
        <p:nvSpPr>
          <p:cNvPr id="12" name="Text 10"/>
          <p:cNvSpPr/>
          <p:nvPr/>
        </p:nvSpPr>
        <p:spPr>
          <a:xfrm>
            <a:off x="731520" y="2971800"/>
            <a:ext cx="3566160" cy="228600"/>
          </a:xfrm>
          <a:prstGeom prst="rect">
            <a:avLst/>
          </a:prstGeom>
          <a:noFill/>
          <a:ln/>
        </p:spPr>
        <p:txBody>
          <a:bodyPr wrap="square" rtlCol="0" anchor="ctr"/>
          <a:lstStyle/>
          <a:p>
            <a:pPr indent="0" marL="0">
              <a:buNone/>
            </a:pPr>
            <a:r>
              <a:rPr lang="en-US" sz="1100" b="1" dirty="0">
                <a:solidFill>
                  <a:srgbClr val="15803D"/>
                </a:solidFill>
                <a:latin typeface="Arial" pitchFamily="34" charset="0"/>
                <a:ea typeface="Arial" pitchFamily="34" charset="-122"/>
                <a:cs typeface="Arial" pitchFamily="34" charset="-120"/>
              </a:rPr>
              <a:t>📄 DOCUMENTS, HEALTH &amp; ELECTRONICS</a:t>
            </a:r>
            <a:endParaRPr lang="en-US" sz="1100" dirty="0"/>
          </a:p>
        </p:txBody>
      </p:sp>
      <p:sp>
        <p:nvSpPr>
          <p:cNvPr id="13" name="Text 11"/>
          <p:cNvSpPr/>
          <p:nvPr/>
        </p:nvSpPr>
        <p:spPr>
          <a:xfrm>
            <a:off x="731520" y="3182112"/>
            <a:ext cx="3566160" cy="1371600"/>
          </a:xfrm>
          <a:prstGeom prst="rect">
            <a:avLst/>
          </a:prstGeom>
          <a:noFill/>
          <a:ln/>
        </p:spPr>
        <p:txBody>
          <a:bodyPr wrap="square" rtlCol="0" anchor="ctr"/>
          <a:lstStyle/>
          <a:p>
            <a:pPr indent="0" marL="0">
              <a:lnSpc>
                <a:spcPct val="104000"/>
              </a:lnSpc>
              <a:buNone/>
            </a:pPr>
            <a:r>
              <a:rPr lang="en-US" sz="820" b="1" dirty="0">
                <a:solidFill>
                  <a:srgbClr val="334155"/>
                </a:solidFill>
                <a:latin typeface="Arial" pitchFamily="34" charset="0"/>
                <a:ea typeface="Arial" pitchFamily="34" charset="-122"/>
                <a:cs typeface="Arial" pitchFamily="34" charset="-120"/>
              </a:rPr>
              <a:t>• Valid UK Passport &amp; GHIC/EHIC: </a:t>
            </a:r>
            <a:pPr indent="0" marL="0">
              <a:lnSpc>
                <a:spcPct val="104000"/>
              </a:lnSpc>
              <a:buNone/>
            </a:pPr>
            <a:r>
              <a:rPr lang="en-US" sz="820" dirty="0">
                <a:solidFill>
                  <a:srgbClr val="334155"/>
                </a:solidFill>
                <a:latin typeface="Arial" pitchFamily="34" charset="0"/>
                <a:ea typeface="Arial" pitchFamily="34" charset="-122"/>
                <a:cs typeface="Arial" pitchFamily="34" charset="-120"/>
              </a:rPr>
              <a:t>Collected in advance tonight at briefing by Mr Lovett!
</a:t>
            </a:r>
            <a:pPr indent="0" marL="0">
              <a:lnSpc>
                <a:spcPct val="104000"/>
              </a:lnSpc>
              <a:buNone/>
            </a:pPr>
            <a:r>
              <a:rPr lang="en-US" sz="820" b="1" dirty="0">
                <a:solidFill>
                  <a:srgbClr val="334155"/>
                </a:solidFill>
                <a:latin typeface="Arial" pitchFamily="34" charset="0"/>
                <a:ea typeface="Arial" pitchFamily="34" charset="-122"/>
                <a:cs typeface="Arial" pitchFamily="34" charset="-120"/>
              </a:rPr>
              <a:t>• Medication Forms &amp; Rules: </a:t>
            </a:r>
            <a:pPr indent="0" marL="0">
              <a:lnSpc>
                <a:spcPct val="104000"/>
              </a:lnSpc>
              <a:buNone/>
            </a:pPr>
            <a:r>
              <a:rPr lang="en-US" sz="820" dirty="0">
                <a:solidFill>
                  <a:srgbClr val="334155"/>
                </a:solidFill>
                <a:latin typeface="Arial" pitchFamily="34" charset="0"/>
                <a:ea typeface="Arial" pitchFamily="34" charset="-122"/>
                <a:cs typeface="Arial" pitchFamily="34" charset="-120"/>
              </a:rPr>
              <a:t>Forms distributed tonight. All meds in original packaging; prescribed items must show child's name.
</a:t>
            </a:r>
            <a:pPr indent="0" marL="0">
              <a:lnSpc>
                <a:spcPct val="104000"/>
              </a:lnSpc>
              <a:buNone/>
            </a:pPr>
            <a:r>
              <a:rPr lang="en-US" sz="820" b="1" dirty="0">
                <a:solidFill>
                  <a:srgbClr val="334155"/>
                </a:solidFill>
                <a:latin typeface="Arial" pitchFamily="34" charset="0"/>
                <a:ea typeface="Arial" pitchFamily="34" charset="-122"/>
                <a:cs typeface="Arial" pitchFamily="34" charset="-120"/>
              </a:rPr>
              <a:t>• Trip WhatsApp Broadcast Group: </a:t>
            </a:r>
            <a:pPr indent="0" marL="0">
              <a:lnSpc>
                <a:spcPct val="104000"/>
              </a:lnSpc>
              <a:buNone/>
            </a:pPr>
            <a:r>
              <a:rPr lang="en-US" sz="820" dirty="0">
                <a:solidFill>
                  <a:srgbClr val="334155"/>
                </a:solidFill>
                <a:latin typeface="Arial" pitchFamily="34" charset="0"/>
                <a:ea typeface="Arial" pitchFamily="34" charset="-122"/>
                <a:cs typeface="Arial" pitchFamily="34" charset="-120"/>
              </a:rPr>
              <a:t>Closed group via QR link tonight for live tour updates &amp; visit photos (reactions welcome, no chat). Photo consent checked for all pupils.
</a:t>
            </a:r>
            <a:pPr indent="0" marL="0">
              <a:lnSpc>
                <a:spcPct val="104000"/>
              </a:lnSpc>
              <a:buNone/>
            </a:pPr>
            <a:r>
              <a:rPr lang="en-US" sz="820" b="1" dirty="0">
                <a:solidFill>
                  <a:srgbClr val="334155"/>
                </a:solidFill>
                <a:latin typeface="Arial" pitchFamily="34" charset="0"/>
                <a:ea typeface="Arial" pitchFamily="34" charset="-122"/>
                <a:cs typeface="Arial" pitchFamily="34" charset="-120"/>
              </a:rPr>
              <a:t>• Adapter &amp; Phone Policy: </a:t>
            </a:r>
            <a:pPr indent="0" marL="0">
              <a:lnSpc>
                <a:spcPct val="104000"/>
              </a:lnSpc>
              <a:buNone/>
            </a:pPr>
            <a:r>
              <a:rPr lang="en-US" sz="820" dirty="0">
                <a:solidFill>
                  <a:srgbClr val="334155"/>
                </a:solidFill>
                <a:latin typeface="Arial" pitchFamily="34" charset="0"/>
                <a:ea typeface="Arial" pitchFamily="34" charset="-122"/>
                <a:cs typeface="Arial" pitchFamily="34" charset="-120"/>
              </a:rPr>
              <a:t>EU 2-pin adapter. Phones collected in staff bag each evening at curfew.</a:t>
            </a:r>
            <a:endParaRPr lang="en-US" sz="820" dirty="0"/>
          </a:p>
        </p:txBody>
      </p:sp>
      <p:sp>
        <p:nvSpPr>
          <p:cNvPr id="14" name="Shape 12"/>
          <p:cNvSpPr/>
          <p:nvPr/>
        </p:nvSpPr>
        <p:spPr>
          <a:xfrm>
            <a:off x="4663440" y="2880360"/>
            <a:ext cx="3931920" cy="1783080"/>
          </a:xfrm>
          <a:prstGeom prst="roundRect">
            <a:avLst/>
          </a:prstGeom>
          <a:solidFill>
            <a:srgbClr val="FFFFFF"/>
          </a:solidFill>
          <a:ln w="12700">
            <a:solidFill>
              <a:srgbClr val="CBD5E1"/>
            </a:solidFill>
            <a:prstDash val="solid"/>
          </a:ln>
        </p:spPr>
      </p:sp>
      <p:sp>
        <p:nvSpPr>
          <p:cNvPr id="15" name="Text 13"/>
          <p:cNvSpPr/>
          <p:nvPr/>
        </p:nvSpPr>
        <p:spPr>
          <a:xfrm>
            <a:off x="4846320" y="2971800"/>
            <a:ext cx="3566160" cy="228600"/>
          </a:xfrm>
          <a:prstGeom prst="rect">
            <a:avLst/>
          </a:prstGeom>
          <a:noFill/>
          <a:ln/>
        </p:spPr>
        <p:txBody>
          <a:bodyPr wrap="square" rtlCol="0" anchor="ctr"/>
          <a:lstStyle/>
          <a:p>
            <a:pPr indent="0" marL="0">
              <a:buNone/>
            </a:pPr>
            <a:r>
              <a:rPr lang="en-US" sz="1100" b="1" dirty="0">
                <a:solidFill>
                  <a:srgbClr val="0F172A"/>
                </a:solidFill>
                <a:latin typeface="Arial" pitchFamily="34" charset="0"/>
                <a:ea typeface="Arial" pitchFamily="34" charset="-122"/>
                <a:cs typeface="Arial" pitchFamily="34" charset="-120"/>
              </a:rPr>
              <a:t>💶 CATERING, MONEY &amp; NEXT DATES</a:t>
            </a:r>
            <a:endParaRPr lang="en-US" sz="1100" dirty="0"/>
          </a:p>
        </p:txBody>
      </p:sp>
      <p:sp>
        <p:nvSpPr>
          <p:cNvPr id="16" name="Text 14"/>
          <p:cNvSpPr/>
          <p:nvPr/>
        </p:nvSpPr>
        <p:spPr>
          <a:xfrm>
            <a:off x="4846320" y="321868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Thursday Packed Lunch: </a:t>
            </a:r>
            <a:pPr indent="0" marL="0">
              <a:lnSpc>
                <a:spcPct val="108000"/>
              </a:lnSpc>
              <a:buNone/>
            </a:pPr>
            <a:r>
              <a:rPr lang="en-US" sz="900" dirty="0">
                <a:solidFill>
                  <a:srgbClr val="334155"/>
                </a:solidFill>
                <a:latin typeface="Arial" pitchFamily="34" charset="0"/>
                <a:ea typeface="Arial" pitchFamily="34" charset="-122"/>
                <a:cs typeface="Arial" pitchFamily="34" charset="-120"/>
              </a:rPr>
              <a:t>Bring from home with disposable drinks/snacks.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Spending Money: </a:t>
            </a:r>
            <a:pPr indent="0" marL="0">
              <a:lnSpc>
                <a:spcPct val="108000"/>
              </a:lnSpc>
              <a:buNone/>
            </a:pPr>
            <a:r>
              <a:rPr lang="en-US" sz="900" dirty="0">
                <a:solidFill>
                  <a:srgbClr val="334155"/>
                </a:solidFill>
                <a:latin typeface="Arial" pitchFamily="34" charset="0"/>
                <a:ea typeface="Arial" pitchFamily="34" charset="-122"/>
                <a:cs typeface="Arial" pitchFamily="34" charset="-120"/>
              </a:rPr>
              <a:t>€30–€40 in cash for Friday &amp; Saturday supermarket lunches &amp; souvenirs.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Accommodation &amp; Rooming: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Peace Village Hostel (4-7 bunks). Rooming &amp; dietary preferences (e.g. vegetarian) gathered in ~2 weeks.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Forms Return Deadline: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Code of Conduct Agreement due Friday 25th September.</a:t>
            </a:r>
            <a:endParaRPr lang="en-US" sz="900" dirty="0"/>
          </a:p>
        </p:txBody>
      </p:sp>
      <p:sp>
        <p:nvSpPr>
          <p:cNvPr id="17" name="Text 15"/>
          <p:cNvSpPr/>
          <p:nvPr/>
        </p:nvSpPr>
        <p:spPr>
          <a:xfrm>
            <a:off x="457200" y="4800600"/>
            <a:ext cx="8229600" cy="228600"/>
          </a:xfrm>
          <a:prstGeom prst="rect">
            <a:avLst/>
          </a:prstGeom>
          <a:noFill/>
          <a:ln/>
        </p:spPr>
        <p:txBody>
          <a:bodyPr wrap="square" rtlCol="0" anchor="ctr"/>
          <a:lstStyle/>
          <a:p>
            <a:pPr algn="ctr" indent="0" marL="0">
              <a:buNone/>
            </a:pPr>
            <a:r>
              <a:rPr lang="en-US" sz="850" b="1" dirty="0">
                <a:solidFill>
                  <a:srgbClr val="DC2626"/>
                </a:solidFill>
                <a:latin typeface="Arial" pitchFamily="34" charset="0"/>
                <a:ea typeface="Arial" pitchFamily="34" charset="-122"/>
                <a:cs typeface="Arial" pitchFamily="34" charset="-120"/>
              </a:rPr>
              <a:t>🚨 24/7 Dedicated Trip Mobile: 07825 297749 (For emergencies &amp; calls from staff; parents must remain contactable 24/7) · Base: 01329 662182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LOCAL HERITAGE: TRACING OUR VILLAGE FALLEN</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From Holy Rood Church and the Stubbington Lychgate to the Memorial Walls of Flanders</a:t>
            </a:r>
            <a:endParaRPr lang="en-US" sz="1000" dirty="0"/>
          </a:p>
        </p:txBody>
      </p:sp>
      <p:sp>
        <p:nvSpPr>
          <p:cNvPr id="5" name="Shape 3"/>
          <p:cNvSpPr/>
          <p:nvPr/>
        </p:nvSpPr>
        <p:spPr>
          <a:xfrm>
            <a:off x="548640" y="1005840"/>
            <a:ext cx="4389120" cy="3657600"/>
          </a:xfrm>
          <a:prstGeom prst="roundRect">
            <a:avLst/>
          </a:prstGeom>
          <a:solidFill>
            <a:srgbClr val="FFFFFF"/>
          </a:solidFill>
          <a:ln w="12700">
            <a:solidFill>
              <a:srgbClr val="CBD5E1"/>
            </a:solidFill>
            <a:prstDash val="solid"/>
          </a:ln>
        </p:spPr>
      </p:sp>
      <p:sp>
        <p:nvSpPr>
          <p:cNvPr id="6" name="Text 4"/>
          <p:cNvSpPr/>
          <p:nvPr/>
        </p:nvSpPr>
        <p:spPr>
          <a:xfrm>
            <a:off x="731520" y="1143000"/>
            <a:ext cx="4023360" cy="274320"/>
          </a:xfrm>
          <a:prstGeom prst="rect">
            <a:avLst/>
          </a:prstGeom>
          <a:noFill/>
          <a:ln/>
        </p:spPr>
        <p:txBody>
          <a:bodyPr wrap="square" rtlCol="0" anchor="ctr"/>
          <a:lstStyle/>
          <a:p>
            <a:pPr indent="0" marL="0">
              <a:buNone/>
            </a:pPr>
            <a:r>
              <a:rPr lang="en-US" sz="1200" b="1" dirty="0">
                <a:solidFill>
                  <a:srgbClr val="1E3A8A"/>
                </a:solidFill>
                <a:latin typeface="Georgia" pitchFamily="34" charset="0"/>
                <a:ea typeface="Georgia" pitchFamily="34" charset="-122"/>
                <a:cs typeface="Georgia" pitchFamily="34" charset="-120"/>
              </a:rPr>
              <a:t>THE LOWRY BROTHERS: A FAMILY SACRIFICE</a:t>
            </a:r>
            <a:endParaRPr lang="en-US" sz="1200" dirty="0"/>
          </a:p>
        </p:txBody>
      </p:sp>
      <p:sp>
        <p:nvSpPr>
          <p:cNvPr id="7" name="Text 5"/>
          <p:cNvSpPr/>
          <p:nvPr/>
        </p:nvSpPr>
        <p:spPr>
          <a:xfrm>
            <a:off x="731520" y="1463040"/>
            <a:ext cx="40233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Three brothers from Manor Way Grange in Lee-on-the-Solent, all carved side-by-side on the Stubbington war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2nd Lt William "Harper" Lowry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4 June 1915 at Gully Ravine (Gallipoli). Commemorated on Helles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Capt Cyril "Patrick" Lowry (20):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25 March 1918 defending the Somme crossings. Pozières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Lt Col Auriol "Eric" Lowry, DSO, MC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Commanded 2nd West Yorkshires, fought at Westhoek Ridge near Ypres. Fell 23 September 1918.
</a:t>
            </a:r>
            <a:pPr indent="0" marL="0">
              <a:lnSpc>
                <a:spcPct val="110000"/>
              </a:lnSpc>
              <a:buNone/>
            </a:pPr>
            <a:r>
              <a:rPr lang="en-US" sz="950" b="1" dirty="0">
                <a:solidFill>
                  <a:srgbClr val="B45309"/>
                </a:solidFill>
                <a:latin typeface="Arial" pitchFamily="34" charset="0"/>
                <a:ea typeface="Arial" pitchFamily="34" charset="-122"/>
                <a:cs typeface="Arial" pitchFamily="34" charset="-120"/>
              </a:rPr>
              <a:t>The Key Question We Ask Our Pupils:
</a:t>
            </a:r>
            <a:pPr indent="0" marL="0">
              <a:lnSpc>
                <a:spcPct val="110000"/>
              </a:lnSpc>
              <a:buNone/>
            </a:pPr>
            <a:r>
              <a:rPr lang="en-US" sz="950" i="1" dirty="0">
                <a:solidFill>
                  <a:srgbClr val="334155"/>
                </a:solidFill>
                <a:latin typeface="Arial" pitchFamily="34" charset="0"/>
                <a:ea typeface="Arial" pitchFamily="34" charset="-122"/>
                <a:cs typeface="Arial" pitchFamily="34" charset="-120"/>
              </a:rPr>
              <a:t>"How did three sons from one coastal Hampshire family answer the call across Gallipoli, Arras, and the Somme—and how did six young men from our quiet village come to rest upon the ramparts and mud of Flanders?"</a:t>
            </a:r>
            <a:endParaRPr lang="en-US" sz="950" dirty="0"/>
          </a:p>
        </p:txBody>
      </p:sp>
      <p:sp>
        <p:nvSpPr>
          <p:cNvPr id="8" name="Shape 6"/>
          <p:cNvSpPr/>
          <p:nvPr/>
        </p:nvSpPr>
        <p:spPr>
          <a:xfrm>
            <a:off x="5120640" y="1005840"/>
            <a:ext cx="3474720" cy="3657600"/>
          </a:xfrm>
          <a:prstGeom prst="roundRect">
            <a:avLst/>
          </a:prstGeom>
          <a:solidFill>
            <a:srgbClr val="FFFFFF"/>
          </a:solidFill>
          <a:ln w="12700">
            <a:solidFill>
              <a:srgbClr val="CBD5E1"/>
            </a:solidFill>
            <a:prstDash val="solid"/>
          </a:ln>
        </p:spPr>
      </p:sp>
      <p:sp>
        <p:nvSpPr>
          <p:cNvPr id="9" name="Text 7"/>
          <p:cNvSpPr/>
          <p:nvPr/>
        </p:nvSpPr>
        <p:spPr>
          <a:xfrm>
            <a:off x="5303520" y="1143000"/>
            <a:ext cx="3108960" cy="274320"/>
          </a:xfrm>
          <a:prstGeom prst="rect">
            <a:avLst/>
          </a:prstGeom>
          <a:noFill/>
          <a:ln/>
        </p:spPr>
        <p:txBody>
          <a:bodyPr wrap="square" rtlCol="0" anchor="ctr"/>
          <a:lstStyle/>
          <a:p>
            <a:pPr indent="0" marL="0">
              <a:buNone/>
            </a:pPr>
            <a:r>
              <a:rPr lang="en-US" sz="1200" b="1" dirty="0">
                <a:solidFill>
                  <a:srgbClr val="15803D"/>
                </a:solidFill>
                <a:latin typeface="Georgia" pitchFamily="34" charset="0"/>
                <a:ea typeface="Georgia" pitchFamily="34" charset="-122"/>
                <a:cs typeface="Georgia" pitchFamily="34" charset="-120"/>
              </a:rPr>
              <a:t>ON-SITE FIELD INVESTIGATIONS</a:t>
            </a:r>
            <a:endParaRPr lang="en-US" sz="1200" dirty="0"/>
          </a:p>
        </p:txBody>
      </p:sp>
      <p:sp>
        <p:nvSpPr>
          <p:cNvPr id="10" name="Text 8"/>
          <p:cNvSpPr/>
          <p:nvPr/>
        </p:nvSpPr>
        <p:spPr>
          <a:xfrm>
            <a:off x="5303520" y="1463040"/>
            <a:ext cx="31089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Pupils will not just be tourists; they are historians carrying local history into the field: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Menin Gate Panel 35: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Locating Pte Thomas Franklin (Chark) &amp; Pte William Ayling (Stubbington baker's boy).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88-90: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Touching the names of Pte Sydney Muckett, Pte Arthur Rye, and LCpl Archibald Ward.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14-17: </a:t>
            </a:r>
            <a:pPr indent="0" marL="0">
              <a:lnSpc>
                <a:spcPct val="110000"/>
              </a:lnSpc>
              <a:buNone/>
            </a:pPr>
            <a:r>
              <a:rPr lang="en-US" sz="950" dirty="0">
                <a:solidFill>
                  <a:srgbClr val="334155"/>
                </a:solidFill>
                <a:latin typeface="Arial" pitchFamily="34" charset="0"/>
                <a:ea typeface="Arial" pitchFamily="34" charset="-122"/>
                <a:cs typeface="Arial" pitchFamily="34" charset="-120"/>
              </a:rPr>
              <a:t>Pte Charles Warland (son of Lee-on-the-Solent Golf Club secretary).
</a:t>
            </a:r>
            <a:pPr indent="0" marL="0">
              <a:lnSpc>
                <a:spcPct val="110000"/>
              </a:lnSpc>
              <a:buNone/>
            </a:pPr>
            <a:r>
              <a:rPr lang="en-US" sz="950" b="1" dirty="0">
                <a:solidFill>
                  <a:srgbClr val="1E3A8A"/>
                </a:solidFill>
                <a:latin typeface="Arial" pitchFamily="34" charset="0"/>
                <a:ea typeface="Arial" pitchFamily="34" charset="-122"/>
                <a:cs typeface="Arial" pitchFamily="34" charset="-120"/>
              </a:rPr>
              <a:t>Interactive Digital Tour Companion:
</a:t>
            </a:r>
            <a:pPr indent="0" marL="0">
              <a:lnSpc>
                <a:spcPct val="110000"/>
              </a:lnSpc>
              <a:buNone/>
            </a:pPr>
            <a:r>
              <a:rPr lang="en-US" sz="950" dirty="0">
                <a:solidFill>
                  <a:srgbClr val="334155"/>
                </a:solidFill>
                <a:latin typeface="Arial" pitchFamily="34" charset="0"/>
                <a:ea typeface="Arial" pitchFamily="34" charset="-122"/>
                <a:cs typeface="Arial" pitchFamily="34" charset="-120"/>
              </a:rPr>
              <a:t>meoncross-history.netlify.app</a:t>
            </a:r>
            <a:endParaRPr lang="en-US" sz="950" dirty="0"/>
          </a:p>
          <a:p>
            <a:pPr indent="0" marL="0">
              <a:lnSpc>
                <a:spcPct val="110000"/>
              </a:lnSpc>
              <a:buNone/>
            </a:pPr>
            <a:r>
              <a:rPr lang="en-US" sz="950" dirty="0">
                <a:solidFill>
                  <a:srgbClr val="334155"/>
                </a:solidFill>
                <a:latin typeface="Arial" pitchFamily="34" charset="0"/>
                <a:ea typeface="Arial" pitchFamily="34" charset="-122"/>
                <a:cs typeface="Arial" pitchFamily="34" charset="-120"/>
              </a:rPr>
              <a:t>Featuring 16 battlefield poems, soldier dossiers, historical context &amp; cemetery maps.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Meoncross School and The History Boys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Ypres 1914-1918 Battlefield Expedition - Parental Briefing</dc:title>
  <dc:subject>PptxGenJS Presentation</dc:subject>
  <dc:creator>Mr Ben Lovett &amp; Mr James Garrett</dc:creator>
  <cp:lastModifiedBy>Mr Ben Lovett &amp; Mr James Garrett</cp:lastModifiedBy>
  <cp:revision>1</cp:revision>
  <dcterms:created xsi:type="dcterms:W3CDTF">2026-09-10T11:45:29Z</dcterms:created>
  <dcterms:modified xsi:type="dcterms:W3CDTF">2026-09-10T11:45:29Z</dcterms:modified>
</cp:coreProperties>
</file>