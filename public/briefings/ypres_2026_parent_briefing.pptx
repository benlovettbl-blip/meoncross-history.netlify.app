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1051560"/>
          </a:xfrm>
          <a:prstGeom prst="rect">
            <a:avLst/>
          </a:prstGeom>
          <a:solidFill>
            <a:srgbClr val="0F172A"/>
          </a:solidFill>
          <a:ln/>
        </p:spPr>
      </p:sp>
      <p:sp>
        <p:nvSpPr>
          <p:cNvPr id="3" name="Text 1"/>
          <p:cNvSpPr/>
          <p:nvPr/>
        </p:nvSpPr>
        <p:spPr>
          <a:xfrm>
            <a:off x="457200" y="109728"/>
            <a:ext cx="8229600" cy="320040"/>
          </a:xfrm>
          <a:prstGeom prst="rect">
            <a:avLst/>
          </a:prstGeom>
          <a:noFill/>
          <a:ln/>
        </p:spPr>
        <p:txBody>
          <a:bodyPr wrap="square" rtlCol="0" anchor="ctr"/>
          <a:lstStyle/>
          <a:p>
            <a:pPr indent="0" marL="0">
              <a:buNone/>
            </a:pPr>
            <a:r>
              <a:rPr lang="en-US" sz="1800" b="1" dirty="0">
                <a:solidFill>
                  <a:srgbClr val="F1F5F9"/>
                </a:solidFill>
                <a:latin typeface="Georgia" pitchFamily="34" charset="0"/>
                <a:ea typeface="Georgia" pitchFamily="34" charset="-122"/>
                <a:cs typeface="Georgia" pitchFamily="34" charset="-120"/>
              </a:rPr>
              <a:t>YPRES 1914–1918: REMEMBRANCE, SACRIFICE &amp; LOCAL HERITAGE</a:t>
            </a:r>
            <a:endParaRPr lang="en-US" sz="1800" dirty="0"/>
          </a:p>
        </p:txBody>
      </p:sp>
      <p:sp>
        <p:nvSpPr>
          <p:cNvPr id="4" name="Text 2"/>
          <p:cNvSpPr/>
          <p:nvPr/>
        </p:nvSpPr>
        <p:spPr>
          <a:xfrm>
            <a:off x="457200" y="429768"/>
            <a:ext cx="8229600" cy="256032"/>
          </a:xfrm>
          <a:prstGeom prst="rect">
            <a:avLst/>
          </a:prstGeom>
          <a:noFill/>
          <a:ln/>
        </p:spPr>
        <p:txBody>
          <a:bodyPr wrap="square" rtlCol="0" anchor="ctr"/>
          <a:lstStyle/>
          <a:p>
            <a:pPr indent="0" marL="0">
              <a:buNone/>
            </a:pPr>
            <a:r>
              <a:rPr lang="en-US" sz="1050" b="1" dirty="0">
                <a:solidFill>
                  <a:srgbClr val="F59E0B"/>
                </a:solidFill>
                <a:latin typeface="Arial" pitchFamily="34" charset="0"/>
                <a:ea typeface="Arial" pitchFamily="34" charset="-122"/>
                <a:cs typeface="Arial" pitchFamily="34" charset="-120"/>
              </a:rPr>
              <a:t>Meoncross School History Department &amp; The History Boys · Mr B. Lovett &amp; Mr J. Garrett (Leaders) · Dr Kirkup &amp; Mrs Lushey</a:t>
            </a:r>
            <a:endParaRPr lang="en-US" sz="1050" dirty="0"/>
          </a:p>
        </p:txBody>
      </p:sp>
      <p:sp>
        <p:nvSpPr>
          <p:cNvPr id="5" name="Text 3"/>
          <p:cNvSpPr/>
          <p:nvPr/>
        </p:nvSpPr>
        <p:spPr>
          <a:xfrm>
            <a:off x="457200" y="704088"/>
            <a:ext cx="8229600" cy="228600"/>
          </a:xfrm>
          <a:prstGeom prst="rect">
            <a:avLst/>
          </a:prstGeom>
          <a:noFill/>
          <a:ln/>
        </p:spPr>
        <p:txBody>
          <a:bodyPr wrap="square" rtlCol="0" anchor="ctr"/>
          <a:lstStyle/>
          <a:p>
            <a:pPr indent="0" marL="0">
              <a:buNone/>
            </a:pPr>
            <a:r>
              <a:rPr lang="en-US" sz="1000" dirty="0">
                <a:solidFill>
                  <a:srgbClr val="94A3B8"/>
                </a:solidFill>
                <a:latin typeface="Arial" pitchFamily="34" charset="0"/>
                <a:ea typeface="Arial" pitchFamily="34" charset="-122"/>
                <a:cs typeface="Arial" pitchFamily="34" charset="-120"/>
              </a:rPr>
              <a:t>Thursday 1st October – Saturday 3rd October 2026   |   Expedition Base: Peace Village Hostel, Flanders</a:t>
            </a:r>
            <a:endParaRPr lang="en-US" sz="1000" dirty="0"/>
          </a:p>
        </p:txBody>
      </p:sp>
      <p:sp>
        <p:nvSpPr>
          <p:cNvPr id="6" name="Shape 4"/>
          <p:cNvSpPr/>
          <p:nvPr/>
        </p:nvSpPr>
        <p:spPr>
          <a:xfrm>
            <a:off x="365760" y="1234440"/>
            <a:ext cx="2651760" cy="3337560"/>
          </a:xfrm>
          <a:prstGeom prst="roundRect">
            <a:avLst/>
          </a:prstGeom>
          <a:solidFill>
            <a:srgbClr val="FFFFFF"/>
          </a:solidFill>
          <a:ln w="12700">
            <a:solidFill>
              <a:srgbClr val="CBD5E1"/>
            </a:solidFill>
            <a:prstDash val="solid"/>
          </a:ln>
        </p:spPr>
      </p:sp>
      <p:sp>
        <p:nvSpPr>
          <p:cNvPr id="7" name="Shape 5"/>
          <p:cNvSpPr/>
          <p:nvPr/>
        </p:nvSpPr>
        <p:spPr>
          <a:xfrm>
            <a:off x="365760" y="1234440"/>
            <a:ext cx="2651760" cy="365760"/>
          </a:xfrm>
          <a:prstGeom prst="rect">
            <a:avLst/>
          </a:prstGeom>
          <a:solidFill>
            <a:srgbClr val="1E3A8A"/>
          </a:solidFill>
          <a:ln/>
        </p:spPr>
      </p:sp>
      <p:sp>
        <p:nvSpPr>
          <p:cNvPr id="8" name="Text 6"/>
          <p:cNvSpPr/>
          <p:nvPr/>
        </p:nvSpPr>
        <p:spPr>
          <a:xfrm>
            <a:off x="45720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1. 3-DAY EXPEDITION ITINERARY</a:t>
            </a:r>
            <a:endParaRPr lang="en-US" sz="1000" dirty="0"/>
          </a:p>
        </p:txBody>
      </p:sp>
      <p:sp>
        <p:nvSpPr>
          <p:cNvPr id="9" name="Text 7"/>
          <p:cNvSpPr/>
          <p:nvPr/>
        </p:nvSpPr>
        <p:spPr>
          <a:xfrm>
            <a:off x="50292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1: North Salient &amp; Mine Warfare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06:15 departure from Meoncross School (Jet Connect).
• 11:20 Eurotunnel; 14:30 Essex Farm ADS (Valentine Strudwick).
• 15:15 Langemarck &amp; 16:00 Hooge Crater Museum.
• 17:45 Peace Village, 18:15 dinner &amp; 19:15 classroom debrief.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2: Passchendaele, Medical Sites &amp; Last Post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Brooding Soldier &amp; 09:45 Sanctuary Wood.
• 11:30 Aldi Ypres lunch stop; 13:00 Tyne Cot (our fallen).
• 14:15 Lijssenthoek CCS &amp; 15:45 Passchendaele Museum.
• 18:00 dinner; 19:20 arrive Menin Gate for 20:00 Last Post.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Day 3: Ypres Daylight, Talbot House &amp; Return
</a:t>
            </a:r>
            <a:pPr indent="0" marL="0">
              <a:lnSpc>
                <a:spcPct val="105000"/>
              </a:lnSpc>
              <a:buNone/>
            </a:pPr>
            <a:r>
              <a:rPr lang="en-US" sz="820" dirty="0">
                <a:solidFill>
                  <a:srgbClr val="334155"/>
                </a:solidFill>
                <a:latin typeface="Arial" pitchFamily="34" charset="0"/>
                <a:ea typeface="Arial" pitchFamily="34" charset="-122"/>
                <a:cs typeface="Arial" pitchFamily="34" charset="-120"/>
              </a:rPr>
              <a:t>• 09:15 Menin Gate &amp; Ramparts walk.</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10:30 De Groote’s Chocolatier (Grote Markt; €30–€40 envelope).</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11:20 Talbot House, 12:45 lunch, 13:30 Town Hall Death Cells.</a:t>
            </a:r>
            <a:endParaRPr lang="en-US" sz="950" dirty="0"/>
          </a:p>
          <a:p>
            <a:pPr indent="0" marL="0">
              <a:lnSpc>
                <a:spcPct val="105000"/>
              </a:lnSpc>
              <a:buNone/>
            </a:pPr>
            <a:r>
              <a:rPr lang="en-US" sz="820" dirty="0">
                <a:solidFill>
                  <a:srgbClr val="334155"/>
                </a:solidFill>
                <a:latin typeface="Arial" pitchFamily="34" charset="0"/>
                <a:ea typeface="Arial" pitchFamily="34" charset="-122"/>
                <a:cs typeface="Arial" pitchFamily="34" charset="-120"/>
              </a:rPr>
              <a:t>• 14:30 depart for Calais; arrive school approx 20:00.</a:t>
            </a:r>
            <a:endParaRPr lang="en-US" sz="950" dirty="0"/>
          </a:p>
        </p:txBody>
      </p:sp>
      <p:sp>
        <p:nvSpPr>
          <p:cNvPr id="10" name="Shape 8"/>
          <p:cNvSpPr/>
          <p:nvPr/>
        </p:nvSpPr>
        <p:spPr>
          <a:xfrm>
            <a:off x="3246120" y="1234440"/>
            <a:ext cx="2651760" cy="3337560"/>
          </a:xfrm>
          <a:prstGeom prst="roundRect">
            <a:avLst/>
          </a:prstGeom>
          <a:solidFill>
            <a:srgbClr val="FFFFFF"/>
          </a:solidFill>
          <a:ln w="12700">
            <a:solidFill>
              <a:srgbClr val="CBD5E1"/>
            </a:solidFill>
            <a:prstDash val="solid"/>
          </a:ln>
        </p:spPr>
      </p:sp>
      <p:sp>
        <p:nvSpPr>
          <p:cNvPr id="11" name="Shape 9"/>
          <p:cNvSpPr/>
          <p:nvPr/>
        </p:nvSpPr>
        <p:spPr>
          <a:xfrm>
            <a:off x="3246120" y="1234440"/>
            <a:ext cx="2651760" cy="365760"/>
          </a:xfrm>
          <a:prstGeom prst="rect">
            <a:avLst/>
          </a:prstGeom>
          <a:solidFill>
            <a:srgbClr val="B45309"/>
          </a:solidFill>
          <a:ln/>
        </p:spPr>
      </p:sp>
      <p:sp>
        <p:nvSpPr>
          <p:cNvPr id="12" name="Text 10"/>
          <p:cNvSpPr/>
          <p:nvPr/>
        </p:nvSpPr>
        <p:spPr>
          <a:xfrm>
            <a:off x="333756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2. FOOD, MONEY &amp; ROOMING</a:t>
            </a:r>
            <a:endParaRPr lang="en-US" sz="1000" dirty="0"/>
          </a:p>
        </p:txBody>
      </p:sp>
      <p:sp>
        <p:nvSpPr>
          <p:cNvPr id="13" name="Text 11"/>
          <p:cNvSpPr/>
          <p:nvPr/>
        </p:nvSpPr>
        <p:spPr>
          <a:xfrm>
            <a:off x="338328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Catering &amp; Meals Provided: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Thu Day 1: Bring packed lunch from home.
• Buffet breakfasts at hostel (Fri &amp; Sat mornings).
• 2-course dinners served on-site at Peace Village.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Spending Money (Euros):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Pupils need €30 to €40 in cash (Euros).
• Used for supermarket lunch stops on Friday and Saturday, chocolates &amp; souvenirs.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Accommodation &amp; Rooming: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Peace Village Hostel, Heuvelland (4-7 bunks).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Rooming sent in ~2 weeks (friend requests).</a:t>
            </a:r>
            <a:endParaRPr lang="en-US" sz="950" dirty="0"/>
          </a:p>
          <a:p>
            <a:pPr indent="0" marL="0">
              <a:lnSpc>
                <a:spcPct val="105000"/>
              </a:lnSpc>
              <a:buNone/>
            </a:pPr>
            <a:r>
              <a:rPr lang="en-US" sz="850" dirty="0">
                <a:solidFill>
                  <a:srgbClr val="334155"/>
                </a:solidFill>
                <a:latin typeface="Arial" pitchFamily="34" charset="0"/>
                <a:ea typeface="Arial" pitchFamily="34" charset="-122"/>
                <a:cs typeface="Arial" pitchFamily="34" charset="-120"/>
              </a:rPr>
              <a:t>• Dietary options (e.g. vegetarian) gathered alongside rooming info.</a:t>
            </a:r>
            <a:endParaRPr lang="en-US" sz="950" dirty="0"/>
          </a:p>
        </p:txBody>
      </p:sp>
      <p:sp>
        <p:nvSpPr>
          <p:cNvPr id="14" name="Shape 12"/>
          <p:cNvSpPr/>
          <p:nvPr/>
        </p:nvSpPr>
        <p:spPr>
          <a:xfrm>
            <a:off x="6126480" y="1234440"/>
            <a:ext cx="2651760" cy="3337560"/>
          </a:xfrm>
          <a:prstGeom prst="roundRect">
            <a:avLst/>
          </a:prstGeom>
          <a:solidFill>
            <a:srgbClr val="FFFFFF"/>
          </a:solidFill>
          <a:ln w="12700">
            <a:solidFill>
              <a:srgbClr val="CBD5E1"/>
            </a:solidFill>
            <a:prstDash val="solid"/>
          </a:ln>
        </p:spPr>
      </p:sp>
      <p:sp>
        <p:nvSpPr>
          <p:cNvPr id="15" name="Shape 13"/>
          <p:cNvSpPr/>
          <p:nvPr/>
        </p:nvSpPr>
        <p:spPr>
          <a:xfrm>
            <a:off x="6126480" y="1234440"/>
            <a:ext cx="2651760" cy="365760"/>
          </a:xfrm>
          <a:prstGeom prst="rect">
            <a:avLst/>
          </a:prstGeom>
          <a:solidFill>
            <a:srgbClr val="15803D"/>
          </a:solidFill>
          <a:ln/>
        </p:spPr>
      </p:sp>
      <p:sp>
        <p:nvSpPr>
          <p:cNvPr id="16" name="Text 14"/>
          <p:cNvSpPr/>
          <p:nvPr/>
        </p:nvSpPr>
        <p:spPr>
          <a:xfrm>
            <a:off x="6217920" y="1298448"/>
            <a:ext cx="2468880" cy="228600"/>
          </a:xfrm>
          <a:prstGeom prst="rect">
            <a:avLst/>
          </a:prstGeom>
          <a:noFill/>
          <a:ln/>
        </p:spPr>
        <p:txBody>
          <a:bodyPr wrap="square" rtlCol="0" anchor="ctr"/>
          <a:lstStyle/>
          <a:p>
            <a:pPr indent="0" marL="0">
              <a:buNone/>
            </a:pPr>
            <a:r>
              <a:rPr lang="en-US" sz="1000" b="1" dirty="0">
                <a:solidFill>
                  <a:srgbClr val="FFFFFF"/>
                </a:solidFill>
                <a:latin typeface="Arial" pitchFamily="34" charset="0"/>
                <a:ea typeface="Arial" pitchFamily="34" charset="-122"/>
                <a:cs typeface="Arial" pitchFamily="34" charset="-120"/>
              </a:rPr>
              <a:t>3. ESSENTIAL KIT &amp; NEXT STEPS</a:t>
            </a:r>
            <a:endParaRPr lang="en-US" sz="1000" dirty="0"/>
          </a:p>
        </p:txBody>
      </p:sp>
      <p:sp>
        <p:nvSpPr>
          <p:cNvPr id="17" name="Text 15"/>
          <p:cNvSpPr/>
          <p:nvPr/>
        </p:nvSpPr>
        <p:spPr>
          <a:xfrm>
            <a:off x="6263640" y="1691640"/>
            <a:ext cx="2377440" cy="2788920"/>
          </a:xfrm>
          <a:prstGeom prst="rect">
            <a:avLst/>
          </a:prstGeom>
          <a:noFill/>
          <a:ln/>
        </p:spPr>
        <p:txBody>
          <a:bodyPr wrap="square" rtlCol="0" anchor="ctr"/>
          <a:lstStyle/>
          <a:p>
            <a:pPr indent="0" marL="0">
              <a:lnSpc>
                <a:spcPct val="105000"/>
              </a:lnSpc>
              <a:buNone/>
            </a:pPr>
            <a:r>
              <a:rPr lang="en-US" sz="950" b="1" dirty="0">
                <a:solidFill>
                  <a:srgbClr val="0F172A"/>
                </a:solidFill>
                <a:latin typeface="Arial" pitchFamily="34" charset="0"/>
                <a:ea typeface="Arial" pitchFamily="34" charset="-122"/>
                <a:cs typeface="Arial" pitchFamily="34" charset="-120"/>
              </a:rPr>
              <a:t>Essential Packing (Autumn in Flanders):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Sturdy walking boots / waterproof shoes.
• Waterproof hooded rain jacket &amp; warm fleece.
• Warm hat &amp; gloves (vital for evening ceremony!).
• Casual clothes for evenings (no formal wear).
• 1 medium holdall/case + 1 small daypack.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Travel Documents &amp; Tech: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Passports &amp; GHIC: Collected tonight!
• Mobiles collected in staff bag each evening.
• UK-to-EU 2-pin plug adapter for chargers.
</a:t>
            </a:r>
            <a:pPr indent="0" marL="0">
              <a:lnSpc>
                <a:spcPct val="105000"/>
              </a:lnSpc>
              <a:buNone/>
            </a:pPr>
            <a:r>
              <a:rPr lang="en-US" sz="950" b="1" dirty="0">
                <a:solidFill>
                  <a:srgbClr val="0F172A"/>
                </a:solidFill>
                <a:latin typeface="Arial" pitchFamily="34" charset="0"/>
                <a:ea typeface="Arial" pitchFamily="34" charset="-122"/>
                <a:cs typeface="Arial" pitchFamily="34" charset="-120"/>
              </a:rPr>
              <a:t>Required Forms to Return:
</a:t>
            </a:r>
            <a:pPr indent="0" marL="0">
              <a:lnSpc>
                <a:spcPct val="105000"/>
              </a:lnSpc>
              <a:buNone/>
            </a:pPr>
            <a:r>
              <a:rPr lang="en-US" sz="850" dirty="0">
                <a:solidFill>
                  <a:srgbClr val="334155"/>
                </a:solidFill>
                <a:latin typeface="Arial" pitchFamily="34" charset="0"/>
                <a:ea typeface="Arial" pitchFamily="34" charset="-122"/>
                <a:cs typeface="Arial" pitchFamily="34" charset="-120"/>
              </a:rPr>
              <a:t>• Code of Conduct Agreement (by Fri 25 Sep).</a:t>
            </a:r>
            <a:endParaRPr lang="en-US" sz="950" dirty="0"/>
          </a:p>
        </p:txBody>
      </p:sp>
      <p:sp>
        <p:nvSpPr>
          <p:cNvPr id="18" name="Shape 16"/>
          <p:cNvSpPr/>
          <p:nvPr/>
        </p:nvSpPr>
        <p:spPr>
          <a:xfrm>
            <a:off x="0" y="4663440"/>
            <a:ext cx="9144000" cy="480060"/>
          </a:xfrm>
          <a:prstGeom prst="rect">
            <a:avLst/>
          </a:prstGeom>
          <a:solidFill>
            <a:srgbClr val="0F172A"/>
          </a:solidFill>
          <a:ln/>
        </p:spPr>
      </p:sp>
      <p:pic>
        <p:nvPicPr>
          <p:cNvPr id="19" name="Image 0" descr="C:\Projects\meoncross-history.netlify.app\public\images\tour_app_qr.png">    </p:cNvPr>
          <p:cNvPicPr>
            <a:picLocks noChangeAspect="1"/>
          </p:cNvPicPr>
          <p:nvPr/>
        </p:nvPicPr>
        <p:blipFill>
          <a:blip r:embed="rId1"/>
          <a:stretch>
            <a:fillRect/>
          </a:stretch>
        </p:blipFill>
        <p:spPr>
          <a:xfrm>
            <a:off x="457200" y="4681728"/>
            <a:ext cx="438912" cy="438912"/>
          </a:xfrm>
          <a:prstGeom prst="rect">
            <a:avLst/>
          </a:prstGeom>
        </p:spPr>
      </p:pic>
      <p:sp>
        <p:nvSpPr>
          <p:cNvPr id="20" name="Text 17"/>
          <p:cNvSpPr/>
          <p:nvPr/>
        </p:nvSpPr>
        <p:spPr>
          <a:xfrm>
            <a:off x="1005840" y="4718304"/>
            <a:ext cx="5486400" cy="182880"/>
          </a:xfrm>
          <a:prstGeom prst="rect">
            <a:avLst/>
          </a:prstGeom>
          <a:noFill/>
          <a:ln/>
        </p:spPr>
        <p:txBody>
          <a:bodyPr wrap="square"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INTERACTIVE DIGITAL FIELD GUIDE:  meoncross-history.netlify.app</a:t>
            </a:r>
            <a:endParaRPr lang="en-US" sz="1050" dirty="0"/>
          </a:p>
        </p:txBody>
      </p:sp>
      <p:sp>
        <p:nvSpPr>
          <p:cNvPr id="21" name="Text 18"/>
          <p:cNvSpPr/>
          <p:nvPr/>
        </p:nvSpPr>
        <p:spPr>
          <a:xfrm>
            <a:off x="1005840" y="4882896"/>
            <a:ext cx="6583680" cy="164592"/>
          </a:xfrm>
          <a:prstGeom prst="rect">
            <a:avLst/>
          </a:prstGeom>
          <a:noFill/>
          <a:ln/>
        </p:spPr>
        <p:txBody>
          <a:bodyPr wrap="square" rtlCol="0" anchor="ctr"/>
          <a:lstStyle/>
          <a:p>
            <a:pPr indent="0" marL="0">
              <a:buNone/>
            </a:pPr>
            <a:r>
              <a:rPr lang="en-US" sz="850" dirty="0">
                <a:solidFill>
                  <a:srgbClr val="94A3B8"/>
                </a:solidFill>
                <a:latin typeface="Arial" pitchFamily="34" charset="0"/>
                <a:ea typeface="Arial" pitchFamily="34" charset="-122"/>
                <a:cs typeface="Arial" pitchFamily="34" charset="-120"/>
              </a:rPr>
              <a:t>Scan QR or visit URL to explore full 3-day itinerary, poetry anthology, historical dossiers &amp; cemetery maps</a:t>
            </a:r>
            <a:endParaRPr lang="en-US" sz="850" dirty="0"/>
          </a:p>
        </p:txBody>
      </p:sp>
      <p:sp>
        <p:nvSpPr>
          <p:cNvPr id="22" name="Text 19"/>
          <p:cNvSpPr/>
          <p:nvPr/>
        </p:nvSpPr>
        <p:spPr>
          <a:xfrm>
            <a:off x="6675120" y="4800600"/>
            <a:ext cx="2286000" cy="201168"/>
          </a:xfrm>
          <a:prstGeom prst="rect">
            <a:avLst/>
          </a:prstGeom>
          <a:noFill/>
          <a:ln/>
        </p:spPr>
        <p:txBody>
          <a:bodyPr wrap="square" rtlCol="0" anchor="ctr"/>
          <a:lstStyle/>
          <a:p>
            <a:pPr algn="r" indent="0" marL="0">
              <a:buNone/>
            </a:pPr>
            <a:r>
              <a:rPr lang="en-US" sz="900" b="1" dirty="0">
                <a:solidFill>
                  <a:srgbClr val="F59E0B"/>
                </a:solidFill>
                <a:latin typeface="Arial" pitchFamily="34" charset="0"/>
                <a:ea typeface="Arial" pitchFamily="34" charset="-122"/>
                <a:cs typeface="Arial" pitchFamily="34" charset="-120"/>
              </a:rPr>
              <a:t>Emergency School Base: +44 1329 288339</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DETAILED PACKING LIST &amp; PRACTICAL CHECKLIST</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Preparation advice for autumn weather in the Flanders Salient · Meoncross History Department</a:t>
            </a:r>
            <a:endParaRPr lang="en-US" sz="1000" dirty="0"/>
          </a:p>
        </p:txBody>
      </p:sp>
      <p:sp>
        <p:nvSpPr>
          <p:cNvPr id="5" name="Shape 3"/>
          <p:cNvSpPr/>
          <p:nvPr/>
        </p:nvSpPr>
        <p:spPr>
          <a:xfrm>
            <a:off x="548640" y="960120"/>
            <a:ext cx="3931920" cy="1783080"/>
          </a:xfrm>
          <a:prstGeom prst="roundRect">
            <a:avLst/>
          </a:prstGeom>
          <a:solidFill>
            <a:srgbClr val="FFFFFF"/>
          </a:solidFill>
          <a:ln w="12700">
            <a:solidFill>
              <a:srgbClr val="CBD5E1"/>
            </a:solidFill>
            <a:prstDash val="solid"/>
          </a:ln>
        </p:spPr>
      </p:sp>
      <p:sp>
        <p:nvSpPr>
          <p:cNvPr id="6" name="Text 4"/>
          <p:cNvSpPr/>
          <p:nvPr/>
        </p:nvSpPr>
        <p:spPr>
          <a:xfrm>
            <a:off x="731520" y="1051560"/>
            <a:ext cx="3566160" cy="228600"/>
          </a:xfrm>
          <a:prstGeom prst="rect">
            <a:avLst/>
          </a:prstGeom>
          <a:noFill/>
          <a:ln/>
        </p:spPr>
        <p:txBody>
          <a:bodyPr wrap="square" rtlCol="0" anchor="ctr"/>
          <a:lstStyle/>
          <a:p>
            <a:pPr indent="0" marL="0">
              <a:buNone/>
            </a:pPr>
            <a:r>
              <a:rPr lang="en-US" sz="1100" b="1" dirty="0">
                <a:solidFill>
                  <a:srgbClr val="1E3A8A"/>
                </a:solidFill>
                <a:latin typeface="Arial" pitchFamily="34" charset="0"/>
                <a:ea typeface="Arial" pitchFamily="34" charset="-122"/>
                <a:cs typeface="Arial" pitchFamily="34" charset="-120"/>
              </a:rPr>
              <a:t>🥾 FOOTWEAR &amp; WEATHER PROTECTION</a:t>
            </a:r>
            <a:endParaRPr lang="en-US" sz="1100" dirty="0"/>
          </a:p>
        </p:txBody>
      </p:sp>
      <p:sp>
        <p:nvSpPr>
          <p:cNvPr id="7" name="Text 5"/>
          <p:cNvSpPr/>
          <p:nvPr/>
        </p:nvSpPr>
        <p:spPr>
          <a:xfrm>
            <a:off x="7315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Walking Boots / Shoes: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Must be sturdy, comfortable &amp; broken-in. Flanders mud can be slippery.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Waterproof Raincoat: </a:t>
            </a:r>
            <a:pPr indent="0" marL="0">
              <a:lnSpc>
                <a:spcPct val="108000"/>
              </a:lnSpc>
              <a:buNone/>
            </a:pPr>
            <a:r>
              <a:rPr lang="en-US" sz="900" dirty="0">
                <a:solidFill>
                  <a:srgbClr val="334155"/>
                </a:solidFill>
                <a:latin typeface="Arial" pitchFamily="34" charset="0"/>
                <a:ea typeface="Arial" pitchFamily="34" charset="-122"/>
                <a:cs typeface="Arial" pitchFamily="34" charset="-120"/>
              </a:rPr>
              <a:t>Windproof with hood. We tour regardless of light rain.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Warm Fleece / Mid-layer: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Temperatures drop quickly on exposed ridges.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Hat &amp; Gloves: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Crucial for standing still during the 8:00 PM Menin Gate ceremony.</a:t>
            </a:r>
            <a:endParaRPr lang="en-US" sz="900" dirty="0"/>
          </a:p>
        </p:txBody>
      </p:sp>
      <p:sp>
        <p:nvSpPr>
          <p:cNvPr id="8" name="Shape 6"/>
          <p:cNvSpPr/>
          <p:nvPr/>
        </p:nvSpPr>
        <p:spPr>
          <a:xfrm>
            <a:off x="4663440" y="960120"/>
            <a:ext cx="3931920" cy="1783080"/>
          </a:xfrm>
          <a:prstGeom prst="roundRect">
            <a:avLst/>
          </a:prstGeom>
          <a:solidFill>
            <a:srgbClr val="FFFFFF"/>
          </a:solidFill>
          <a:ln w="12700">
            <a:solidFill>
              <a:srgbClr val="CBD5E1"/>
            </a:solidFill>
            <a:prstDash val="solid"/>
          </a:ln>
        </p:spPr>
      </p:sp>
      <p:sp>
        <p:nvSpPr>
          <p:cNvPr id="9" name="Text 7"/>
          <p:cNvSpPr/>
          <p:nvPr/>
        </p:nvSpPr>
        <p:spPr>
          <a:xfrm>
            <a:off x="4846320" y="1051560"/>
            <a:ext cx="3566160" cy="228600"/>
          </a:xfrm>
          <a:prstGeom prst="rect">
            <a:avLst/>
          </a:prstGeom>
          <a:noFill/>
          <a:ln/>
        </p:spPr>
        <p:txBody>
          <a:bodyPr wrap="square" rtlCol="0" anchor="ctr"/>
          <a:lstStyle/>
          <a:p>
            <a:pPr indent="0" marL="0">
              <a:buNone/>
            </a:pPr>
            <a:r>
              <a:rPr lang="en-US" sz="1100" b="1" dirty="0">
                <a:solidFill>
                  <a:srgbClr val="B45309"/>
                </a:solidFill>
                <a:latin typeface="Arial" pitchFamily="34" charset="0"/>
                <a:ea typeface="Arial" pitchFamily="34" charset="-122"/>
                <a:cs typeface="Arial" pitchFamily="34" charset="-120"/>
              </a:rPr>
              <a:t>🎒 LUGGAGE &amp; DAYPACK RULES</a:t>
            </a:r>
            <a:endParaRPr lang="en-US" sz="1100" dirty="0"/>
          </a:p>
        </p:txBody>
      </p:sp>
      <p:sp>
        <p:nvSpPr>
          <p:cNvPr id="10" name="Text 8"/>
          <p:cNvSpPr/>
          <p:nvPr/>
        </p:nvSpPr>
        <p:spPr>
          <a:xfrm>
            <a:off x="4846320" y="129844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1 Main Holdall / Medium Suitcase: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Goes underneath in coach hold until arrival at hostel.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1 Small Daypack: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Stays with student on coach. Contains waterproofs, water bottle, Day 1 packed lunch &amp; phone.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Casual Clothes: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Practical, comfortable clothing for downtime at hostel. No restaurant wear.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Nightwear &amp; Washbag: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Towel, toothbrush, roll-on deodorant (no aerosols).</a:t>
            </a:r>
            <a:endParaRPr lang="en-US" sz="900" dirty="0"/>
          </a:p>
        </p:txBody>
      </p:sp>
      <p:sp>
        <p:nvSpPr>
          <p:cNvPr id="11" name="Shape 9"/>
          <p:cNvSpPr/>
          <p:nvPr/>
        </p:nvSpPr>
        <p:spPr>
          <a:xfrm>
            <a:off x="548640" y="2880360"/>
            <a:ext cx="3931920" cy="1783080"/>
          </a:xfrm>
          <a:prstGeom prst="roundRect">
            <a:avLst/>
          </a:prstGeom>
          <a:solidFill>
            <a:srgbClr val="FFFFFF"/>
          </a:solidFill>
          <a:ln w="12700">
            <a:solidFill>
              <a:srgbClr val="CBD5E1"/>
            </a:solidFill>
            <a:prstDash val="solid"/>
          </a:ln>
        </p:spPr>
      </p:sp>
      <p:sp>
        <p:nvSpPr>
          <p:cNvPr id="12" name="Text 10"/>
          <p:cNvSpPr/>
          <p:nvPr/>
        </p:nvSpPr>
        <p:spPr>
          <a:xfrm>
            <a:off x="731520" y="2971800"/>
            <a:ext cx="3566160" cy="228600"/>
          </a:xfrm>
          <a:prstGeom prst="rect">
            <a:avLst/>
          </a:prstGeom>
          <a:noFill/>
          <a:ln/>
        </p:spPr>
        <p:txBody>
          <a:bodyPr wrap="square" rtlCol="0" anchor="ctr"/>
          <a:lstStyle/>
          <a:p>
            <a:pPr indent="0" marL="0">
              <a:buNone/>
            </a:pPr>
            <a:r>
              <a:rPr lang="en-US" sz="1100" b="1" dirty="0">
                <a:solidFill>
                  <a:srgbClr val="15803D"/>
                </a:solidFill>
                <a:latin typeface="Arial" pitchFamily="34" charset="0"/>
                <a:ea typeface="Arial" pitchFamily="34" charset="-122"/>
                <a:cs typeface="Arial" pitchFamily="34" charset="-120"/>
              </a:rPr>
              <a:t>📄 DOCUMENTS, HEALTH &amp; ELECTRONICS</a:t>
            </a:r>
            <a:endParaRPr lang="en-US" sz="1100" dirty="0"/>
          </a:p>
        </p:txBody>
      </p:sp>
      <p:sp>
        <p:nvSpPr>
          <p:cNvPr id="13" name="Text 11"/>
          <p:cNvSpPr/>
          <p:nvPr/>
        </p:nvSpPr>
        <p:spPr>
          <a:xfrm>
            <a:off x="7315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Valid UK Passport &amp; GHIC/EHIC: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Collected in advance tonight at briefing by Mr Lovett!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Travel Adapter: </a:t>
            </a:r>
            <a:pPr indent="0" marL="0">
              <a:lnSpc>
                <a:spcPct val="108000"/>
              </a:lnSpc>
              <a:buNone/>
            </a:pPr>
            <a:r>
              <a:rPr lang="en-US" sz="900" dirty="0">
                <a:solidFill>
                  <a:srgbClr val="334155"/>
                </a:solidFill>
                <a:latin typeface="Arial" pitchFamily="34" charset="0"/>
                <a:ea typeface="Arial" pitchFamily="34" charset="-122"/>
                <a:cs typeface="Arial" pitchFamily="34" charset="-120"/>
              </a:rPr>
              <a:t>Standard European 2-pin adapter for phone charging.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Mobile Phone Policy: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Permitted by day; collected in dedicated staff phone bag each evening at curfew.</a:t>
            </a:r>
            <a:endParaRPr lang="en-US" sz="900" dirty="0"/>
          </a:p>
        </p:txBody>
      </p:sp>
      <p:sp>
        <p:nvSpPr>
          <p:cNvPr id="14" name="Shape 12"/>
          <p:cNvSpPr/>
          <p:nvPr/>
        </p:nvSpPr>
        <p:spPr>
          <a:xfrm>
            <a:off x="4663440" y="2880360"/>
            <a:ext cx="3931920" cy="1783080"/>
          </a:xfrm>
          <a:prstGeom prst="roundRect">
            <a:avLst/>
          </a:prstGeom>
          <a:solidFill>
            <a:srgbClr val="FFFFFF"/>
          </a:solidFill>
          <a:ln w="12700">
            <a:solidFill>
              <a:srgbClr val="CBD5E1"/>
            </a:solidFill>
            <a:prstDash val="solid"/>
          </a:ln>
        </p:spPr>
      </p:sp>
      <p:sp>
        <p:nvSpPr>
          <p:cNvPr id="15" name="Text 13"/>
          <p:cNvSpPr/>
          <p:nvPr/>
        </p:nvSpPr>
        <p:spPr>
          <a:xfrm>
            <a:off x="4846320" y="2971800"/>
            <a:ext cx="3566160" cy="228600"/>
          </a:xfrm>
          <a:prstGeom prst="rect">
            <a:avLst/>
          </a:prstGeom>
          <a:noFill/>
          <a:ln/>
        </p:spPr>
        <p:txBody>
          <a:bodyPr wrap="square" rtlCol="0" anchor="ctr"/>
          <a:lstStyle/>
          <a:p>
            <a:pPr indent="0" marL="0">
              <a:buNone/>
            </a:pPr>
            <a:r>
              <a:rPr lang="en-US" sz="1100" b="1" dirty="0">
                <a:solidFill>
                  <a:srgbClr val="0F172A"/>
                </a:solidFill>
                <a:latin typeface="Arial" pitchFamily="34" charset="0"/>
                <a:ea typeface="Arial" pitchFamily="34" charset="-122"/>
                <a:cs typeface="Arial" pitchFamily="34" charset="-120"/>
              </a:rPr>
              <a:t>💶 CATERING, MONEY &amp; NEXT DATES</a:t>
            </a:r>
            <a:endParaRPr lang="en-US" sz="1100" dirty="0"/>
          </a:p>
        </p:txBody>
      </p:sp>
      <p:sp>
        <p:nvSpPr>
          <p:cNvPr id="16" name="Text 14"/>
          <p:cNvSpPr/>
          <p:nvPr/>
        </p:nvSpPr>
        <p:spPr>
          <a:xfrm>
            <a:off x="4846320" y="3218688"/>
            <a:ext cx="3566160" cy="1325880"/>
          </a:xfrm>
          <a:prstGeom prst="rect">
            <a:avLst/>
          </a:prstGeom>
          <a:noFill/>
          <a:ln/>
        </p:spPr>
        <p:txBody>
          <a:bodyPr wrap="square" rtlCol="0" anchor="ctr"/>
          <a:lstStyle/>
          <a:p>
            <a:pPr indent="0" marL="0">
              <a:lnSpc>
                <a:spcPct val="108000"/>
              </a:lnSpc>
              <a:buNone/>
            </a:pPr>
            <a:r>
              <a:rPr lang="en-US" sz="900" b="1" dirty="0">
                <a:solidFill>
                  <a:srgbClr val="334155"/>
                </a:solidFill>
                <a:latin typeface="Arial" pitchFamily="34" charset="0"/>
                <a:ea typeface="Arial" pitchFamily="34" charset="-122"/>
                <a:cs typeface="Arial" pitchFamily="34" charset="-120"/>
              </a:rPr>
              <a:t>• Thursday Packed Lunch: </a:t>
            </a:r>
            <a:pPr indent="0" marL="0">
              <a:lnSpc>
                <a:spcPct val="108000"/>
              </a:lnSpc>
              <a:buNone/>
            </a:pPr>
            <a:r>
              <a:rPr lang="en-US" sz="900" dirty="0">
                <a:solidFill>
                  <a:srgbClr val="334155"/>
                </a:solidFill>
                <a:latin typeface="Arial" pitchFamily="34" charset="0"/>
                <a:ea typeface="Arial" pitchFamily="34" charset="-122"/>
                <a:cs typeface="Arial" pitchFamily="34" charset="-120"/>
              </a:rPr>
              <a:t>Bring from home with disposable drinks/snacks.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Spending Money: </a:t>
            </a:r>
            <a:pPr indent="0" marL="0">
              <a:lnSpc>
                <a:spcPct val="108000"/>
              </a:lnSpc>
              <a:buNone/>
            </a:pPr>
            <a:r>
              <a:rPr lang="en-US" sz="900" dirty="0">
                <a:solidFill>
                  <a:srgbClr val="334155"/>
                </a:solidFill>
                <a:latin typeface="Arial" pitchFamily="34" charset="0"/>
                <a:ea typeface="Arial" pitchFamily="34" charset="-122"/>
                <a:cs typeface="Arial" pitchFamily="34" charset="-120"/>
              </a:rPr>
              <a:t>€30–€40 in cash for Friday &amp; Saturday supermarket lunches &amp; souvenirs.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Accommodation &amp; Rooming: </a:t>
            </a:r>
            <a:pPr indent="0" marL="0">
              <a:lnSpc>
                <a:spcPct val="108000"/>
              </a:lnSpc>
              <a:buNone/>
            </a:pPr>
            <a:r>
              <a:rPr lang="en-US" sz="900" dirty="0">
                <a:solidFill>
                  <a:srgbClr val="334155"/>
                </a:solidFill>
                <a:latin typeface="Arial" pitchFamily="34" charset="0"/>
                <a:ea typeface="Arial" pitchFamily="34" charset="-122"/>
                <a:cs typeface="Arial" pitchFamily="34" charset="-120"/>
              </a:rPr>
              <a:t>Peace Village Hostel (4-7 bunks). Rooming &amp; dietary preferences (e.g. vegetarian) gathered in ~2 weeks.
</a:t>
            </a:r>
            <a:pPr indent="0" marL="0">
              <a:lnSpc>
                <a:spcPct val="108000"/>
              </a:lnSpc>
              <a:buNone/>
            </a:pPr>
            <a:r>
              <a:rPr lang="en-US" sz="900" b="1" dirty="0">
                <a:solidFill>
                  <a:srgbClr val="334155"/>
                </a:solidFill>
                <a:latin typeface="Arial" pitchFamily="34" charset="0"/>
                <a:ea typeface="Arial" pitchFamily="34" charset="-122"/>
                <a:cs typeface="Arial" pitchFamily="34" charset="-120"/>
              </a:rPr>
              <a:t>• Forms Return Deadline: </a:t>
            </a:r>
            <a:pPr indent="0" marL="0">
              <a:lnSpc>
                <a:spcPct val="108000"/>
              </a:lnSpc>
              <a:buNone/>
            </a:pPr>
            <a:r>
              <a:rPr lang="en-US" sz="900" dirty="0">
                <a:solidFill>
                  <a:srgbClr val="334155"/>
                </a:solidFill>
                <a:latin typeface="Arial" pitchFamily="34" charset="0"/>
                <a:ea typeface="Arial" pitchFamily="34" charset="-122"/>
                <a:cs typeface="Arial" pitchFamily="34" charset="-120"/>
              </a:rPr>
              <a:t>Code of Conduct Agreement due Friday 25th September.</a:t>
            </a:r>
            <a:endParaRPr lang="en-US" sz="900" dirty="0"/>
          </a:p>
        </p:txBody>
      </p:sp>
      <p:sp>
        <p:nvSpPr>
          <p:cNvPr id="17" name="Text 15"/>
          <p:cNvSpPr/>
          <p:nvPr/>
        </p:nvSpPr>
        <p:spPr>
          <a:xfrm>
            <a:off x="548640" y="4800600"/>
            <a:ext cx="8046720" cy="228600"/>
          </a:xfrm>
          <a:prstGeom prst="rect">
            <a:avLst/>
          </a:prstGeom>
          <a:noFill/>
          <a:ln/>
        </p:spPr>
        <p:txBody>
          <a:bodyPr wrap="square" rtlCol="0" anchor="ctr"/>
          <a:lstStyle/>
          <a:p>
            <a:pPr algn="ctr" indent="0" marL="0">
              <a:buNone/>
            </a:pPr>
            <a:r>
              <a:rPr lang="en-US" sz="950" i="1" dirty="0">
                <a:solidFill>
                  <a:srgbClr val="64748B"/>
                </a:solidFill>
                <a:latin typeface="Arial" pitchFamily="34" charset="0"/>
                <a:ea typeface="Arial" pitchFamily="34" charset="-122"/>
                <a:cs typeface="Arial" pitchFamily="34" charset="-120"/>
              </a:rPr>
              <a:t>Expedition Staff: Mr Ben Lovett &amp; Mr James Garrett (Tour Leaders) · Dr Kirkup &amp; Mrs Lushey (Accompanying Staff)</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548640" y="137160"/>
            <a:ext cx="8046720" cy="320040"/>
          </a:xfrm>
          <a:prstGeom prst="rect">
            <a:avLst/>
          </a:prstGeom>
          <a:noFill/>
          <a:ln/>
        </p:spPr>
        <p:txBody>
          <a:bodyPr wrap="square" rtlCol="0" anchor="ctr"/>
          <a:lstStyle/>
          <a:p>
            <a:pPr indent="0" marL="0">
              <a:buNone/>
            </a:pPr>
            <a:r>
              <a:rPr lang="en-US" sz="1600" b="1" dirty="0">
                <a:solidFill>
                  <a:srgbClr val="F1F5F9"/>
                </a:solidFill>
                <a:latin typeface="Georgia" pitchFamily="34" charset="0"/>
                <a:ea typeface="Georgia" pitchFamily="34" charset="-122"/>
                <a:cs typeface="Georgia" pitchFamily="34" charset="-120"/>
              </a:rPr>
              <a:t>OUR LOCAL MISSION: TRACING THE VILLAGE FALLEN</a:t>
            </a:r>
            <a:endParaRPr lang="en-US" sz="1600" dirty="0"/>
          </a:p>
        </p:txBody>
      </p:sp>
      <p:sp>
        <p:nvSpPr>
          <p:cNvPr id="4" name="Text 2"/>
          <p:cNvSpPr/>
          <p:nvPr/>
        </p:nvSpPr>
        <p:spPr>
          <a:xfrm>
            <a:off x="548640" y="457200"/>
            <a:ext cx="8046720" cy="228600"/>
          </a:xfrm>
          <a:prstGeom prst="rect">
            <a:avLst/>
          </a:prstGeom>
          <a:noFill/>
          <a:ln/>
        </p:spPr>
        <p:txBody>
          <a:bodyPr wrap="square" rtlCol="0" anchor="ctr"/>
          <a:lstStyle/>
          <a:p>
            <a:pPr indent="0" marL="0">
              <a:buNone/>
            </a:pPr>
            <a:r>
              <a:rPr lang="en-US" sz="1000" b="1" dirty="0">
                <a:solidFill>
                  <a:srgbClr val="F59E0B"/>
                </a:solidFill>
                <a:latin typeface="Arial" pitchFamily="34" charset="0"/>
                <a:ea typeface="Arial" pitchFamily="34" charset="-122"/>
                <a:cs typeface="Arial" pitchFamily="34" charset="-120"/>
              </a:rPr>
              <a:t>From Holy Rood Church and the Stubbington Lychgate to the Memorial Walls of Flanders</a:t>
            </a:r>
            <a:endParaRPr lang="en-US" sz="1000" dirty="0"/>
          </a:p>
        </p:txBody>
      </p:sp>
      <p:sp>
        <p:nvSpPr>
          <p:cNvPr id="5" name="Shape 3"/>
          <p:cNvSpPr/>
          <p:nvPr/>
        </p:nvSpPr>
        <p:spPr>
          <a:xfrm>
            <a:off x="548640" y="1005840"/>
            <a:ext cx="4389120" cy="3657600"/>
          </a:xfrm>
          <a:prstGeom prst="roundRect">
            <a:avLst/>
          </a:prstGeom>
          <a:solidFill>
            <a:srgbClr val="FFFFFF"/>
          </a:solidFill>
          <a:ln w="12700">
            <a:solidFill>
              <a:srgbClr val="CBD5E1"/>
            </a:solidFill>
            <a:prstDash val="solid"/>
          </a:ln>
        </p:spPr>
      </p:sp>
      <p:sp>
        <p:nvSpPr>
          <p:cNvPr id="6" name="Text 4"/>
          <p:cNvSpPr/>
          <p:nvPr/>
        </p:nvSpPr>
        <p:spPr>
          <a:xfrm>
            <a:off x="731520" y="1143000"/>
            <a:ext cx="4023360" cy="274320"/>
          </a:xfrm>
          <a:prstGeom prst="rect">
            <a:avLst/>
          </a:prstGeom>
          <a:noFill/>
          <a:ln/>
        </p:spPr>
        <p:txBody>
          <a:bodyPr wrap="square" rtlCol="0" anchor="ctr"/>
          <a:lstStyle/>
          <a:p>
            <a:pPr indent="0" marL="0">
              <a:buNone/>
            </a:pPr>
            <a:r>
              <a:rPr lang="en-US" sz="1200" b="1" dirty="0">
                <a:solidFill>
                  <a:srgbClr val="1E3A8A"/>
                </a:solidFill>
                <a:latin typeface="Georgia" pitchFamily="34" charset="0"/>
                <a:ea typeface="Georgia" pitchFamily="34" charset="-122"/>
                <a:cs typeface="Georgia" pitchFamily="34" charset="-120"/>
              </a:rPr>
              <a:t>THE LOWRY BROTHERS: A FAMILY SACRIFICE</a:t>
            </a:r>
            <a:endParaRPr lang="en-US" sz="1200" dirty="0"/>
          </a:p>
        </p:txBody>
      </p:sp>
      <p:sp>
        <p:nvSpPr>
          <p:cNvPr id="7" name="Text 5"/>
          <p:cNvSpPr/>
          <p:nvPr/>
        </p:nvSpPr>
        <p:spPr>
          <a:xfrm>
            <a:off x="731520" y="1463040"/>
            <a:ext cx="40233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Three brothers from Manor Way Grange in Lee-on-the-Solent, all carved side-by-side on the Stubbington war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2nd Lt William "Harper" Lowry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4 June 1915 at Gully Ravine (Gallipoli). Commemorated on Helles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Capt Cyril "Patrick" Lowry (20):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Fell 25 March 1918 defending the Somme crossings. Pozières Memorial.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Lt Col Auriol "Eric" Lowry, DSO, MC (25):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Commanded 2nd West Yorkshires, fought at Westhoek Ridge near Ypres. Fell 23 September 1918.
</a:t>
            </a:r>
            <a:pPr indent="0" marL="0">
              <a:lnSpc>
                <a:spcPct val="110000"/>
              </a:lnSpc>
              <a:buNone/>
            </a:pPr>
            <a:r>
              <a:rPr lang="en-US" sz="950" b="1" dirty="0">
                <a:solidFill>
                  <a:srgbClr val="B45309"/>
                </a:solidFill>
                <a:latin typeface="Arial" pitchFamily="34" charset="0"/>
                <a:ea typeface="Arial" pitchFamily="34" charset="-122"/>
                <a:cs typeface="Arial" pitchFamily="34" charset="-120"/>
              </a:rPr>
              <a:t>The Key Question We Ask Our Pupils:
</a:t>
            </a:r>
            <a:pPr indent="0" marL="0">
              <a:lnSpc>
                <a:spcPct val="110000"/>
              </a:lnSpc>
              <a:buNone/>
            </a:pPr>
            <a:r>
              <a:rPr lang="en-US" sz="950" i="1" dirty="0">
                <a:solidFill>
                  <a:srgbClr val="334155"/>
                </a:solidFill>
                <a:latin typeface="Arial" pitchFamily="34" charset="0"/>
                <a:ea typeface="Arial" pitchFamily="34" charset="-122"/>
                <a:cs typeface="Arial" pitchFamily="34" charset="-120"/>
              </a:rPr>
              <a:t>"How did three sons from one coastal Hampshire family answer the call across Gallipoli, Arras, and the Somme—and how did six young men from our quiet village come to rest upon the ramparts and mud of Flanders?"</a:t>
            </a:r>
            <a:endParaRPr lang="en-US" sz="950" dirty="0"/>
          </a:p>
        </p:txBody>
      </p:sp>
      <p:sp>
        <p:nvSpPr>
          <p:cNvPr id="8" name="Shape 6"/>
          <p:cNvSpPr/>
          <p:nvPr/>
        </p:nvSpPr>
        <p:spPr>
          <a:xfrm>
            <a:off x="5120640" y="1005840"/>
            <a:ext cx="3474720" cy="3657600"/>
          </a:xfrm>
          <a:prstGeom prst="roundRect">
            <a:avLst/>
          </a:prstGeom>
          <a:solidFill>
            <a:srgbClr val="FFFFFF"/>
          </a:solidFill>
          <a:ln w="12700">
            <a:solidFill>
              <a:srgbClr val="CBD5E1"/>
            </a:solidFill>
            <a:prstDash val="solid"/>
          </a:ln>
        </p:spPr>
      </p:sp>
      <p:sp>
        <p:nvSpPr>
          <p:cNvPr id="9" name="Text 7"/>
          <p:cNvSpPr/>
          <p:nvPr/>
        </p:nvSpPr>
        <p:spPr>
          <a:xfrm>
            <a:off x="5303520" y="1143000"/>
            <a:ext cx="3108960" cy="274320"/>
          </a:xfrm>
          <a:prstGeom prst="rect">
            <a:avLst/>
          </a:prstGeom>
          <a:noFill/>
          <a:ln/>
        </p:spPr>
        <p:txBody>
          <a:bodyPr wrap="square" rtlCol="0" anchor="ctr"/>
          <a:lstStyle/>
          <a:p>
            <a:pPr indent="0" marL="0">
              <a:buNone/>
            </a:pPr>
            <a:r>
              <a:rPr lang="en-US" sz="1200" b="1" dirty="0">
                <a:solidFill>
                  <a:srgbClr val="15803D"/>
                </a:solidFill>
                <a:latin typeface="Georgia" pitchFamily="34" charset="0"/>
                <a:ea typeface="Georgia" pitchFamily="34" charset="-122"/>
                <a:cs typeface="Georgia" pitchFamily="34" charset="-120"/>
              </a:rPr>
              <a:t>ON-SITE FIELD INVESTIGATIONS</a:t>
            </a:r>
            <a:endParaRPr lang="en-US" sz="1200" dirty="0"/>
          </a:p>
        </p:txBody>
      </p:sp>
      <p:sp>
        <p:nvSpPr>
          <p:cNvPr id="10" name="Text 8"/>
          <p:cNvSpPr/>
          <p:nvPr/>
        </p:nvSpPr>
        <p:spPr>
          <a:xfrm>
            <a:off x="5303520" y="1463040"/>
            <a:ext cx="3108960" cy="3017520"/>
          </a:xfrm>
          <a:prstGeom prst="rect">
            <a:avLst/>
          </a:prstGeom>
          <a:noFill/>
          <a:ln/>
        </p:spPr>
        <p:txBody>
          <a:bodyPr wrap="square" rtlCol="0" anchor="ctr"/>
          <a:lstStyle/>
          <a:p>
            <a:pPr indent="0" marL="0">
              <a:lnSpc>
                <a:spcPct val="110000"/>
              </a:lnSpc>
              <a:buNone/>
            </a:pPr>
            <a:r>
              <a:rPr lang="en-US" sz="950" dirty="0">
                <a:solidFill>
                  <a:srgbClr val="334155"/>
                </a:solidFill>
                <a:latin typeface="Arial" pitchFamily="34" charset="0"/>
                <a:ea typeface="Arial" pitchFamily="34" charset="-122"/>
                <a:cs typeface="Arial" pitchFamily="34" charset="-120"/>
              </a:rPr>
              <a:t>Pupils will not just be tourists; they are historians carrying local history into the field: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Menin Gate Panel 35: </a:t>
            </a:r>
            <a:pPr indent="0" marL="0">
              <a:lnSpc>
                <a:spcPct val="110000"/>
              </a:lnSpc>
              <a:buNone/>
            </a:pPr>
            <a:r>
              <a:rPr lang="en-US" sz="950" dirty="0">
                <a:solidFill>
                  <a:srgbClr val="334155"/>
                </a:solidFill>
                <a:latin typeface="Arial" pitchFamily="34" charset="0"/>
                <a:ea typeface="Arial" pitchFamily="34" charset="-122"/>
                <a:cs typeface="Arial" pitchFamily="34" charset="-120"/>
              </a:rPr>
              <a:t>Locating Pte Thomas Franklin (Chark) &amp; Pte William Ayling (Stubbington baker's boy).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88-90: </a:t>
            </a:r>
            <a:pPr indent="0" marL="0">
              <a:lnSpc>
                <a:spcPct val="110000"/>
              </a:lnSpc>
              <a:buNone/>
            </a:pPr>
            <a:r>
              <a:rPr lang="en-US" sz="950" dirty="0">
                <a:solidFill>
                  <a:srgbClr val="334155"/>
                </a:solidFill>
                <a:latin typeface="Arial" pitchFamily="34" charset="0"/>
                <a:ea typeface="Arial" pitchFamily="34" charset="-122"/>
                <a:cs typeface="Arial" pitchFamily="34" charset="-120"/>
              </a:rPr>
              <a:t>Touching the names of Pte Sydney Muckett, Pte Arthur Rye, and LCpl Archibald Ward.
</a:t>
            </a:r>
            <a:pPr indent="0" marL="0">
              <a:lnSpc>
                <a:spcPct val="110000"/>
              </a:lnSpc>
              <a:buNone/>
            </a:pPr>
            <a:r>
              <a:rPr lang="en-US" sz="950" b="1" dirty="0">
                <a:solidFill>
                  <a:srgbClr val="0F172A"/>
                </a:solidFill>
                <a:latin typeface="Arial" pitchFamily="34" charset="0"/>
                <a:ea typeface="Arial" pitchFamily="34" charset="-122"/>
                <a:cs typeface="Arial" pitchFamily="34" charset="-120"/>
              </a:rPr>
              <a:t>• Tyne Cot Panels 14-17: </a:t>
            </a:r>
            <a:pPr indent="0" marL="0">
              <a:lnSpc>
                <a:spcPct val="110000"/>
              </a:lnSpc>
              <a:buNone/>
            </a:pPr>
            <a:r>
              <a:rPr lang="en-US" sz="950" dirty="0">
                <a:solidFill>
                  <a:srgbClr val="334155"/>
                </a:solidFill>
                <a:latin typeface="Arial" pitchFamily="34" charset="0"/>
                <a:ea typeface="Arial" pitchFamily="34" charset="-122"/>
                <a:cs typeface="Arial" pitchFamily="34" charset="-120"/>
              </a:rPr>
              <a:t>Pte Charles Warland (son of Lee-on-the-Solent Golf Club secretary).
</a:t>
            </a:r>
            <a:pPr indent="0" marL="0">
              <a:lnSpc>
                <a:spcPct val="110000"/>
              </a:lnSpc>
              <a:buNone/>
            </a:pPr>
            <a:r>
              <a:rPr lang="en-US" sz="950" b="1" dirty="0">
                <a:solidFill>
                  <a:srgbClr val="1E3A8A"/>
                </a:solidFill>
                <a:latin typeface="Arial" pitchFamily="34" charset="0"/>
                <a:ea typeface="Arial" pitchFamily="34" charset="-122"/>
                <a:cs typeface="Arial" pitchFamily="34" charset="-120"/>
              </a:rPr>
              <a:t>Interactive Digital Tour Companion:
</a:t>
            </a:r>
            <a:pPr indent="0" marL="0">
              <a:lnSpc>
                <a:spcPct val="110000"/>
              </a:lnSpc>
              <a:buNone/>
            </a:pPr>
            <a:r>
              <a:rPr lang="en-US" sz="950" dirty="0">
                <a:solidFill>
                  <a:srgbClr val="334155"/>
                </a:solidFill>
                <a:latin typeface="Arial" pitchFamily="34" charset="0"/>
                <a:ea typeface="Arial" pitchFamily="34" charset="-122"/>
                <a:cs typeface="Arial" pitchFamily="34" charset="-120"/>
              </a:rPr>
              <a:t>meoncross-history.netlify.app</a:t>
            </a:r>
            <a:endParaRPr lang="en-US" sz="950" dirty="0"/>
          </a:p>
          <a:p>
            <a:pPr indent="0" marL="0">
              <a:lnSpc>
                <a:spcPct val="110000"/>
              </a:lnSpc>
              <a:buNone/>
            </a:pPr>
            <a:r>
              <a:rPr lang="en-US" sz="950" dirty="0">
                <a:solidFill>
                  <a:srgbClr val="334155"/>
                </a:solidFill>
                <a:latin typeface="Arial" pitchFamily="34" charset="0"/>
                <a:ea typeface="Arial" pitchFamily="34" charset="-122"/>
                <a:cs typeface="Arial" pitchFamily="34" charset="-120"/>
              </a:rPr>
              <a:t>Featuring 16 battlefield poems, soldier dossiers, historical context &amp; cemetery maps.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standalone="yes"?>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vt:lpstr>Fonts Used</vt:lpstr></vt:variant>
			<vt:variant><vt:i4>2</vt:i4></vt:variant>
			<vt:variant><vt:lpstr>Theme</vt:lpstr></vt:variant>
			<vt:variant><vt:i4>1</vt:i4></vt:variant>
			<vt:variant><vt:lpstr>Slide Titles</vt:lpstr></vt:variant>
			<vt:variant><vt:i4>3</vt:i4></vt:variant>
		</vt:vector>
	</HeadingPairs>
	<TitlesOfParts>
		<vt:vector size="6" baseType="lpstr">
			<vt:lpstr>Arial</vt:lpstr>
			<vt:lpstr>Calibri</vt:lpstr>
			<vt:lpstr>Office Theme</vt:lpstr>
			<vt:lpstr>Slide 1</vt:lpstr><vt:lpstr>Slide 2</vt:lpstr><vt:lpstr>Slide 3</vt:lpstr>
		</vt:vector>
	</TitlesOfParts>
	<Company>Meoncross School & The History Boys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Ypres 1914-1918 Battlefield Expedition - Parental Briefing</dc:title>
  <dc:subject>PptxGenJS Presentation</dc:subject>
  <dc:creator>Mr Ben Lovett &amp; Mr James Garrett</dc:creator>
  <cp:lastModifiedBy>Mr Ben Lovett &amp; Mr James Garrett</cp:lastModifiedBy>
  <cp:revision>1</cp:revision>
  <dcterms:created xsi:type="dcterms:W3CDTF">2026-09-05T21:32:16Z</dcterms:created>
  <dcterms:modified xsi:type="dcterms:W3CDTF">2026-09-05T21:32:16Z</dcterms:modified>
</cp:coreProperties>
</file>